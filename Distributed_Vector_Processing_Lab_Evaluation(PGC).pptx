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A74A6B1-95C2-AEA8-CC0C-3FAB6DFBE6AE}">
          <p14:sldIdLst>
            <p14:sldId id="256"/>
            <p14:sldId id="257"/>
          </p14:sldIdLst>
        </p14:section>
        <p14:section name="Problem &amp; Design" id="{2862948F-57DF-40CE-1E9F-16547CB57539}">
          <p14:sldIdLst>
            <p14:sldId id="258"/>
            <p14:sldId id="259"/>
            <p14:sldId id="260"/>
            <p14:sldId id="261"/>
          </p14:sldIdLst>
        </p14:section>
        <p14:section name="Implementation &amp; Setup" id="{0D3E5726-2E7F-06FF-95EF-E1C640D36F03}">
          <p14:sldIdLst>
            <p14:sldId id="262"/>
            <p14:sldId id="263"/>
            <p14:sldId id="264"/>
          </p14:sldIdLst>
        </p14:section>
        <p14:section name="Results &amp; Analysis" id="{1F4646A5-E5F5-636E-A402-071411FB153F}">
          <p14:sldIdLst>
            <p14:sldId id="265"/>
            <p14:sldId id="266"/>
            <p14:sldId id="267"/>
            <p14:sldId id="268"/>
            <p14:sldId id="269"/>
          </p14:sldIdLst>
        </p14:section>
        <p14:section name="Viva &amp; Wrap-up" id="{C69850C3-020C-E253-50B0-5FA6DC348AA9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+mn-lt"/>
              </a:rPr>
              <a:t>Total elapsed time, N = 50M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elapsed time (s)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2F-49CB-9E97-C0DDA12E3267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2F-49CB-9E97-C0DDA12E3267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2F-49CB-9E97-C0DDA12E3267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2F-49CB-9E97-C0DDA12E3267}"/>
              </c:ext>
            </c:extLst>
          </c:dPt>
          <c:dPt>
            <c:idx val="4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2F-49CB-9E97-C0DDA12E326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Sequential</c:v>
                </c:pt>
                <c:pt idx="1">
                  <c:v>In-Situ P=2</c:v>
                </c:pt>
                <c:pt idx="2">
                  <c:v>In-Situ P=4</c:v>
                </c:pt>
                <c:pt idx="3">
                  <c:v>In-Situ P=16</c:v>
                </c:pt>
                <c:pt idx="4">
                  <c:v>Scatter-Gather P=8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9.3976000000000006</c:v>
                </c:pt>
                <c:pt idx="1">
                  <c:v>1.9644999999999999</c:v>
                </c:pt>
                <c:pt idx="2">
                  <c:v>2.0691999999999999</c:v>
                </c:pt>
                <c:pt idx="3">
                  <c:v>1.4261999999999999</c:v>
                </c:pt>
                <c:pt idx="4">
                  <c:v>3.6918000000000002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2F-49CB-9E97-C0DDA12E32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2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topic: Distributed Vector Processing using Open MPI (Team 5, Topic 5). Divide a large vector among MPI processes, compute locally, and combine with collective reductions.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results: 50 million double-precision elements (1.52 GB), single-core baseline 9.40 s versus best distributed run 1.43 s, a 6.59x speedup at 35.06 M elements/s. All outputs verified against double-precision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 kernels are the backbone of BLAS-1, simulation and ML. At N between 10^6 and 5x10^7 a single core is limited by cache capacity and memory bandwidth. Objective: split the vectors across MPI ranks and measure computation versus communication separately. Contrast memory-bound addition (0.04 FLOPs/byte) with our compute-bound non-linear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pieces: SAXPY-style linear combination with alpha 2.5 and beta 1.5; the non-linear pipeline that stresses the FPU; global reductions (dot product, L2 norm, sum, min and max); and deterministic in-memory input so there is no disk I/O and results are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global vector is cut into P contiguous blocks. The remainder R = N mod P is spread over the first R ranks so there is no truncation for any N. Displacements are prefix sums of the counts, which gives a contiguous, non-overlapping layout, and each rank only allocates O(N/P).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 is the classic master-worker: rank 0 holds everything and ships slices out and back, so communication is O(N). Model B, in-situ, has each rank initialise its own sub-domain, so only scalars are communicated through MPI_Reduce. This is how real cluster codes and MPI-IO style pipelines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primitives we rely on. Verification: every distributed result is compared against the sequential analytical baseline with tolerance 1e-6, on all three data sizes and process counts P=1 to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come from this laptop-class machine running Ubuntu 24.04 inside WSL2: two physical cores with hyper-threading, so four hardware threads. We tested three data sizes and process counts from 1 to 16, including deliberate oversubscription at 8 and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lscpu, free -h and mpirun --version confirming the host. Right: in-situ run, 10M elements on 4 ranks, 0.224 s, 44.63 M elements/s, 1.66x speedup, verification PASSED. Sequential baseline for the same size took 0.371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small and medium sizes the gains are modest. At 1M, four ranks reach 1.83x (45.7% efficiency). At 10M, two ranks give 1.63x and four ranks add nothing because the data is already small per rank and communication grows to 0.073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experiment. Sequential takes 9.40 s. In-situ drops to 1.96 s on 2 ranks, 2.07 s on 4 ranks and 1.43 s on 16 ranks (6.59x, 35.06 M elements/s). Scatter-gather on 8 ranks takes 3.69 s because 2.65 s of that is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wall-clock time against process count for in-situ and scatter-gather. Bottom: speedup against the ideal linear line. The 50M curve beats the ideal line at P=2 due to cache and memory effects, then flattens. Scatter-gather never gets above 2.55x.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efficiency E(P) = S(P)/P. The 50M curve peaks at 239% at P=2 and decays as ranks increase. Right: for scatter-gather at 50M, scatter and gather time grow to dominate, which is why in-situ is the scalable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 behind the curves: the hardware has only four threads, oversubscription costs context switches, the 50M case benefits from smaller per-rank footprints, and the scatter-gather model pays O(N) communication. Gustafson: as N grows the parallel fraction approaches 1 so larger problems keep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Short, confident answers. The full 15-question bank is in presentation/viva_preparation.md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all five checkpoints completed, results correct across all configurations, in-situ domain decomposition is the scalable design. Repository follows the required structure. Thank the evaluators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43000"/>
            <a:ext cx="6766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6583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Distributed Vector Processing  |  Team 5  |  PGC Lab Evaluation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akaraj187/distributed-vector-processing-parallel-computing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685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PARALLEL &amp; GPU COMPUTING (PGC) LAB  |  LAB EVALUATION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4300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Distributed Vector Processing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3"/>
                </a:solidFill>
              </a:rPr>
              <a:t>Open MPI benchmark evaluation: speedup scaling and collective communication analysis</a:t>
            </a:r>
            <a:endParaRPr lang="en-US" sz="1800" dirty="0"/>
          </a:p>
        </p:txBody>
      </p:sp>
      <p:sp>
        <p:nvSpPr>
          <p:cNvPr id="5" name="Topic info"/>
          <p:cNvSpPr txBox="1"/>
          <p:nvPr/>
        </p:nvSpPr>
        <p:spPr>
          <a:xfrm>
            <a:off x="640080" y="37490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Team 5, Topic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Open MPI, distributed-memory model  |  Intel Core i5-5300U, 2 cores / 4 threads</a:t>
            </a:r>
            <a:endParaRPr lang="en-US" sz="1400" dirty="0"/>
          </a:p>
        </p:txBody>
      </p:sp>
      <p:sp>
        <p:nvSpPr>
          <p:cNvPr id="6" name="Rank block 0"/>
          <p:cNvSpPr/>
          <p:nvPr/>
        </p:nvSpPr>
        <p:spPr>
          <a:xfrm>
            <a:off x="7955280" y="822960"/>
            <a:ext cx="1737360" cy="1234440"/>
          </a:xfrm>
          <a:prstGeom prst="roundRect">
            <a:avLst>
              <a:gd name="adj" fmla="val 10370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" name="Rank label 0"/>
          <p:cNvSpPr txBox="1"/>
          <p:nvPr/>
        </p:nvSpPr>
        <p:spPr>
          <a:xfrm>
            <a:off x="7955280" y="10789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 / P elements</a:t>
            </a:r>
            <a:endParaRPr lang="en-US" sz="1400" dirty="0"/>
          </a:p>
        </p:txBody>
      </p:sp>
      <p:sp>
        <p:nvSpPr>
          <p:cNvPr id="8" name="Rank block 1"/>
          <p:cNvSpPr/>
          <p:nvPr/>
        </p:nvSpPr>
        <p:spPr>
          <a:xfrm>
            <a:off x="9921240" y="822960"/>
            <a:ext cx="1737360" cy="1234440"/>
          </a:xfrm>
          <a:prstGeom prst="roundRect">
            <a:avLst>
              <a:gd name="adj" fmla="val 10370"/>
            </a:avLst>
          </a:prstGeom>
          <a:solidFill>
            <a:schemeClr val="accent6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" name="Rank label 1"/>
          <p:cNvSpPr txBox="1"/>
          <p:nvPr/>
        </p:nvSpPr>
        <p:spPr>
          <a:xfrm>
            <a:off x="9921240" y="10789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 / P elements</a:t>
            </a:r>
            <a:endParaRPr lang="en-US" sz="1400" dirty="0"/>
          </a:p>
        </p:txBody>
      </p:sp>
      <p:sp>
        <p:nvSpPr>
          <p:cNvPr id="10" name="Rank block 2"/>
          <p:cNvSpPr/>
          <p:nvPr/>
        </p:nvSpPr>
        <p:spPr>
          <a:xfrm>
            <a:off x="7955280" y="2286000"/>
            <a:ext cx="1737360" cy="1234440"/>
          </a:xfrm>
          <a:prstGeom prst="roundRect">
            <a:avLst>
              <a:gd name="adj" fmla="val 10370"/>
            </a:avLst>
          </a:prstGeom>
          <a:solidFill>
            <a:schemeClr val="accent6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Rank label 2"/>
          <p:cNvSpPr txBox="1"/>
          <p:nvPr/>
        </p:nvSpPr>
        <p:spPr>
          <a:xfrm>
            <a:off x="7955280" y="25420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 / P elements</a:t>
            </a:r>
            <a:endParaRPr lang="en-US" sz="1400" dirty="0"/>
          </a:p>
        </p:txBody>
      </p:sp>
      <p:sp>
        <p:nvSpPr>
          <p:cNvPr id="12" name="Rank block 3"/>
          <p:cNvSpPr/>
          <p:nvPr/>
        </p:nvSpPr>
        <p:spPr>
          <a:xfrm>
            <a:off x="9921240" y="2286000"/>
            <a:ext cx="1737360" cy="1234440"/>
          </a:xfrm>
          <a:prstGeom prst="roundRect">
            <a:avLst>
              <a:gd name="adj" fmla="val 10370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3" name="Rank label 3"/>
          <p:cNvSpPr txBox="1"/>
          <p:nvPr/>
        </p:nvSpPr>
        <p:spPr>
          <a:xfrm>
            <a:off x="9921240" y="25420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 / P elements</a:t>
            </a:r>
            <a:endParaRPr lang="en-US" sz="1400" dirty="0"/>
          </a:p>
        </p:txBody>
      </p:sp>
      <p:sp>
        <p:nvSpPr>
          <p:cNvPr id="14" name="Reduce band"/>
          <p:cNvSpPr/>
          <p:nvPr/>
        </p:nvSpPr>
        <p:spPr>
          <a:xfrm>
            <a:off x="7955280" y="3749040"/>
            <a:ext cx="37033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5" name="Reduce text"/>
          <p:cNvSpPr txBox="1"/>
          <p:nvPr/>
        </p:nvSpPr>
        <p:spPr>
          <a:xfrm>
            <a:off x="7955280" y="3749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MPI_Reduce: global result in O(log P)</a:t>
            </a:r>
            <a:endParaRPr lang="en-US" sz="1400" dirty="0"/>
          </a:p>
        </p:txBody>
      </p:sp>
      <p:sp>
        <p:nvSpPr>
          <p:cNvPr id="16" name="Team label"/>
          <p:cNvSpPr txBox="1"/>
          <p:nvPr/>
        </p:nvSpPr>
        <p:spPr>
          <a:xfrm>
            <a:off x="64008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7" name="Team card 1"/>
          <p:cNvSpPr/>
          <p:nvPr/>
        </p:nvSpPr>
        <p:spPr>
          <a:xfrm>
            <a:off x="640080" y="4937760"/>
            <a:ext cx="262432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8" name="Initials badge 1"/>
          <p:cNvSpPr/>
          <p:nvPr/>
        </p:nvSpPr>
        <p:spPr>
          <a:xfrm>
            <a:off x="795528" y="518464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Initials 1"/>
          <p:cNvSpPr txBox="1"/>
          <p:nvPr/>
        </p:nvSpPr>
        <p:spPr>
          <a:xfrm>
            <a:off x="795528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AD</a:t>
            </a:r>
            <a:endParaRPr lang="en-US" sz="1600" dirty="0"/>
          </a:p>
        </p:txBody>
      </p:sp>
      <p:sp>
        <p:nvSpPr>
          <p:cNvPr id="20" name="Team text 1"/>
          <p:cNvSpPr txBox="1"/>
          <p:nvPr/>
        </p:nvSpPr>
        <p:spPr>
          <a:xfrm>
            <a:off x="1463040" y="5184648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Akash Dani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01FE24BCI081</a:t>
            </a:r>
            <a:endParaRPr lang="en-US" sz="1400" dirty="0"/>
          </a:p>
        </p:txBody>
      </p:sp>
      <p:sp>
        <p:nvSpPr>
          <p:cNvPr id="21" name="Team card 2"/>
          <p:cNvSpPr/>
          <p:nvPr/>
        </p:nvSpPr>
        <p:spPr>
          <a:xfrm>
            <a:off x="3438144" y="4937760"/>
            <a:ext cx="262432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2" name="Initials badge 2"/>
          <p:cNvSpPr/>
          <p:nvPr/>
        </p:nvSpPr>
        <p:spPr>
          <a:xfrm>
            <a:off x="3593592" y="518464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Initials 2"/>
          <p:cNvSpPr txBox="1"/>
          <p:nvPr/>
        </p:nvSpPr>
        <p:spPr>
          <a:xfrm>
            <a:off x="3593592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NM</a:t>
            </a:r>
            <a:endParaRPr lang="en-US" sz="1600" dirty="0"/>
          </a:p>
        </p:txBody>
      </p:sp>
      <p:sp>
        <p:nvSpPr>
          <p:cNvPr id="24" name="Team text 2"/>
          <p:cNvSpPr txBox="1"/>
          <p:nvPr/>
        </p:nvSpPr>
        <p:spPr>
          <a:xfrm>
            <a:off x="4261104" y="5184648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Neil Mascarenhas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01FE24BCI070</a:t>
            </a:r>
            <a:endParaRPr lang="en-US" sz="1400" dirty="0"/>
          </a:p>
        </p:txBody>
      </p:sp>
      <p:sp>
        <p:nvSpPr>
          <p:cNvPr id="25" name="Team card 3"/>
          <p:cNvSpPr/>
          <p:nvPr/>
        </p:nvSpPr>
        <p:spPr>
          <a:xfrm>
            <a:off x="6236208" y="4937760"/>
            <a:ext cx="262432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6" name="Initials badge 3"/>
          <p:cNvSpPr/>
          <p:nvPr/>
        </p:nvSpPr>
        <p:spPr>
          <a:xfrm>
            <a:off x="6391656" y="518464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Initials 3"/>
          <p:cNvSpPr txBox="1"/>
          <p:nvPr/>
        </p:nvSpPr>
        <p:spPr>
          <a:xfrm>
            <a:off x="6391656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DJ</a:t>
            </a:r>
            <a:endParaRPr lang="en-US" sz="1600" dirty="0"/>
          </a:p>
        </p:txBody>
      </p:sp>
      <p:sp>
        <p:nvSpPr>
          <p:cNvPr id="28" name="Team text 3"/>
          <p:cNvSpPr txBox="1"/>
          <p:nvPr/>
        </p:nvSpPr>
        <p:spPr>
          <a:xfrm>
            <a:off x="7059168" y="5184648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Dasari Joshua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01FE24BCI078</a:t>
            </a:r>
            <a:endParaRPr lang="en-US" sz="1400" dirty="0"/>
          </a:p>
        </p:txBody>
      </p:sp>
      <p:sp>
        <p:nvSpPr>
          <p:cNvPr id="29" name="Team card 4"/>
          <p:cNvSpPr/>
          <p:nvPr/>
        </p:nvSpPr>
        <p:spPr>
          <a:xfrm>
            <a:off x="9034272" y="4937760"/>
            <a:ext cx="262432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30" name="Initials badge 4"/>
          <p:cNvSpPr/>
          <p:nvPr/>
        </p:nvSpPr>
        <p:spPr>
          <a:xfrm>
            <a:off x="9189720" y="518464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Initials 4"/>
          <p:cNvSpPr txBox="1"/>
          <p:nvPr/>
        </p:nvSpPr>
        <p:spPr>
          <a:xfrm>
            <a:off x="9189720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2" name="Team text 4"/>
          <p:cNvSpPr txBox="1"/>
          <p:nvPr/>
        </p:nvSpPr>
        <p:spPr>
          <a:xfrm>
            <a:off x="9857232" y="5184648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Abhishek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01FE23BCI112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at a Glance</a:t>
            </a:r>
            <a:endParaRPr lang="en-US" sz="3200" dirty="0"/>
          </a:p>
        </p:txBody>
      </p:sp>
      <p:sp>
        <p:nvSpPr>
          <p:cNvPr id="5" name="Stat card 1"/>
          <p:cNvSpPr/>
          <p:nvPr/>
        </p:nvSpPr>
        <p:spPr>
          <a:xfrm>
            <a:off x="548640" y="1554480"/>
            <a:ext cx="26014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777240" y="182880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 M</a:t>
            </a:r>
            <a:endParaRPr lang="en-US" sz="3800" dirty="0"/>
          </a:p>
        </p:txBody>
      </p:sp>
      <p:sp>
        <p:nvSpPr>
          <p:cNvPr id="7" name="Stat label 1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double-precision elements (1.52 GB working set)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3378708" y="1554480"/>
            <a:ext cx="26014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3607308" y="182880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6.59×</a:t>
            </a:r>
            <a:endParaRPr lang="en-US" sz="38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speedup over single core: 9.40 s to 1.43 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208776" y="1554480"/>
            <a:ext cx="26014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6437376" y="182880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35.06 M/s</a:t>
            </a:r>
            <a:endParaRPr lang="en-US" sz="38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437376" y="3005633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peak throughput vs. 5.32 M/s sequential</a:t>
            </a:r>
            <a:endParaRPr lang="en-US" sz="1400" dirty="0"/>
          </a:p>
        </p:txBody>
      </p:sp>
      <p:sp>
        <p:nvSpPr>
          <p:cNvPr id="14" name="Stat card 4"/>
          <p:cNvSpPr/>
          <p:nvPr/>
        </p:nvSpPr>
        <p:spPr>
          <a:xfrm>
            <a:off x="9038844" y="1554480"/>
            <a:ext cx="260146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5" name="Stat value 4"/>
          <p:cNvSpPr txBox="1"/>
          <p:nvPr/>
        </p:nvSpPr>
        <p:spPr>
          <a:xfrm>
            <a:off x="9267444" y="182880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Stat label 4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outputs verified, tolerance ε ≤ 10⁻⁶</a:t>
            </a:r>
            <a:endParaRPr lang="en-US" sz="1400" dirty="0"/>
          </a:p>
        </p:txBody>
      </p:sp>
      <p:sp>
        <p:nvSpPr>
          <p:cNvPr id="17" name="Summary card 1"/>
          <p:cNvSpPr/>
          <p:nvPr/>
        </p:nvSpPr>
        <p:spPr>
          <a:xfrm>
            <a:off x="548640" y="3840480"/>
            <a:ext cx="354482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8" name="Summary icon 1 circle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Summary icon 1 icon" descr="Fa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217213"/>
            <a:ext cx="252374" cy="252374"/>
          </a:xfrm>
          <a:prstGeom prst="rect">
            <a:avLst/>
          </a:prstGeom>
        </p:spPr>
      </p:pic>
      <p:sp>
        <p:nvSpPr>
          <p:cNvPr id="20" name="Summary head 1"/>
          <p:cNvSpPr txBox="1"/>
          <p:nvPr/>
        </p:nvSpPr>
        <p:spPr>
          <a:xfrm>
            <a:off x="1508760" y="4069080"/>
            <a:ext cx="2356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</a:t>
            </a:r>
            <a:endParaRPr lang="en-US" sz="2000" dirty="0"/>
          </a:p>
        </p:txBody>
      </p:sp>
      <p:sp>
        <p:nvSpPr>
          <p:cNvPr id="21" name="Summary body 1"/>
          <p:cNvSpPr txBox="1"/>
          <p:nvPr/>
        </p:nvSpPr>
        <p:spPr>
          <a:xfrm>
            <a:off x="777240" y="480060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Single-core vector kernels saturate the memory bus and cache once N reaches tens of millions of elements.</a:t>
            </a:r>
            <a:endParaRPr lang="en-US" sz="1400" dirty="0"/>
          </a:p>
        </p:txBody>
      </p:sp>
      <p:sp>
        <p:nvSpPr>
          <p:cNvPr id="22" name="Summary card 2"/>
          <p:cNvSpPr/>
          <p:nvPr/>
        </p:nvSpPr>
        <p:spPr>
          <a:xfrm>
            <a:off x="4322064" y="3840480"/>
            <a:ext cx="354482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3" name="Summary icon 2 circle"/>
          <p:cNvSpPr/>
          <p:nvPr/>
        </p:nvSpPr>
        <p:spPr>
          <a:xfrm>
            <a:off x="4550664" y="40690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4" name="Summary icon 2 icon" descr="FaProject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797" y="4217213"/>
            <a:ext cx="252374" cy="252374"/>
          </a:xfrm>
          <a:prstGeom prst="rect">
            <a:avLst/>
          </a:prstGeom>
        </p:spPr>
      </p:pic>
      <p:sp>
        <p:nvSpPr>
          <p:cNvPr id="25" name="Summary head 2"/>
          <p:cNvSpPr txBox="1"/>
          <p:nvPr/>
        </p:nvSpPr>
        <p:spPr>
          <a:xfrm>
            <a:off x="5282184" y="4069080"/>
            <a:ext cx="2356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Approach</a:t>
            </a:r>
            <a:endParaRPr lang="en-US" sz="2000" dirty="0"/>
          </a:p>
        </p:txBody>
      </p:sp>
      <p:sp>
        <p:nvSpPr>
          <p:cNvPr id="26" name="Summary body 2"/>
          <p:cNvSpPr txBox="1"/>
          <p:nvPr/>
        </p:nvSpPr>
        <p:spPr>
          <a:xfrm>
            <a:off x="4550664" y="480060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1D block decomposition across MPI ranks, with in-situ and scatter-gather workflows compared head to head.</a:t>
            </a:r>
            <a:endParaRPr lang="en-US" sz="1400" dirty="0"/>
          </a:p>
        </p:txBody>
      </p:sp>
      <p:sp>
        <p:nvSpPr>
          <p:cNvPr id="27" name="Summary card 3"/>
          <p:cNvSpPr/>
          <p:nvPr/>
        </p:nvSpPr>
        <p:spPr>
          <a:xfrm>
            <a:off x="8095488" y="3840480"/>
            <a:ext cx="3544824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8" name="Summary icon 3 circle"/>
          <p:cNvSpPr/>
          <p:nvPr/>
        </p:nvSpPr>
        <p:spPr>
          <a:xfrm>
            <a:off x="8324088" y="40690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9" name="Summary icon 3 icon" descr="FaChart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21" y="4217213"/>
            <a:ext cx="252374" cy="252374"/>
          </a:xfrm>
          <a:prstGeom prst="rect">
            <a:avLst/>
          </a:prstGeom>
        </p:spPr>
      </p:pic>
      <p:sp>
        <p:nvSpPr>
          <p:cNvPr id="30" name="Summary head 3"/>
          <p:cNvSpPr txBox="1"/>
          <p:nvPr/>
        </p:nvSpPr>
        <p:spPr>
          <a:xfrm>
            <a:off x="9055608" y="4069080"/>
            <a:ext cx="2356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Outcome</a:t>
            </a:r>
            <a:endParaRPr lang="en-US" sz="2000" dirty="0"/>
          </a:p>
        </p:txBody>
      </p:sp>
      <p:sp>
        <p:nvSpPr>
          <p:cNvPr id="31" name="Summary body 3"/>
          <p:cNvSpPr txBox="1"/>
          <p:nvPr/>
        </p:nvSpPr>
        <p:spPr>
          <a:xfrm>
            <a:off x="8324088" y="480060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In-situ decomposition scales best: only scalars cross processes, while scatter-gather spends up to 72% of its time communicating.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1  |  PROBLEM DEFINITION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 and Objective</a:t>
            </a:r>
            <a:endParaRPr lang="en-US" sz="3200" dirty="0"/>
          </a:p>
        </p:txBody>
      </p:sp>
      <p:sp>
        <p:nvSpPr>
          <p:cNvPr id="5" name="Problem icon 1 circle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Problem icon 1 icon" descr="FaCub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1753271"/>
            <a:ext cx="260787" cy="260787"/>
          </a:xfrm>
          <a:prstGeom prst="rect">
            <a:avLst/>
          </a:prstGeom>
        </p:spPr>
      </p:pic>
      <p:sp>
        <p:nvSpPr>
          <p:cNvPr id="7" name="Problem head 1"/>
          <p:cNvSpPr txBox="1"/>
          <p:nvPr/>
        </p:nvSpPr>
        <p:spPr>
          <a:xfrm>
            <a:off x="1325880" y="1554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vector processing</a:t>
            </a:r>
            <a:endParaRPr lang="en-US" sz="1600" dirty="0"/>
          </a:p>
        </p:txBody>
      </p:sp>
      <p:sp>
        <p:nvSpPr>
          <p:cNvPr id="8" name="Problem body 1"/>
          <p:cNvSpPr txBox="1"/>
          <p:nvPr/>
        </p:nvSpPr>
        <p:spPr>
          <a:xfrm>
            <a:off x="1325880" y="188366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BLAS-1 kernels underpin scientific modeling, simulation and machine learning.</a:t>
            </a:r>
            <a:endParaRPr lang="en-US" sz="1400" dirty="0"/>
          </a:p>
        </p:txBody>
      </p:sp>
      <p:sp>
        <p:nvSpPr>
          <p:cNvPr id="9" name="Problem icon 2 circle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Problem icon 2 icon" descr="FaMem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2941991"/>
            <a:ext cx="260787" cy="260787"/>
          </a:xfrm>
          <a:prstGeom prst="rect">
            <a:avLst/>
          </a:prstGeom>
        </p:spPr>
      </p:pic>
      <p:sp>
        <p:nvSpPr>
          <p:cNvPr id="11" name="Problem head 2"/>
          <p:cNvSpPr txBox="1"/>
          <p:nvPr/>
        </p:nvSpPr>
        <p:spPr>
          <a:xfrm>
            <a:off x="1325880" y="2743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bottleneck</a:t>
            </a:r>
            <a:endParaRPr lang="en-US" sz="1600" dirty="0"/>
          </a:p>
        </p:txBody>
      </p:sp>
      <p:sp>
        <p:nvSpPr>
          <p:cNvPr id="12" name="Problem body 2"/>
          <p:cNvSpPr txBox="1"/>
          <p:nvPr/>
        </p:nvSpPr>
        <p:spPr>
          <a:xfrm>
            <a:off x="1325880" y="30723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At N = 10⁶ to 5×10⁷ a single core hits cache-capacity limits and memory-bus saturation.</a:t>
            </a:r>
            <a:endParaRPr lang="en-US" sz="1400" dirty="0"/>
          </a:p>
        </p:txBody>
      </p:sp>
      <p:sp>
        <p:nvSpPr>
          <p:cNvPr id="13" name="Problem icon 3 circle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4" name="Problem icon 3 icon" descr="FaBulls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4130711"/>
            <a:ext cx="260787" cy="260787"/>
          </a:xfrm>
          <a:prstGeom prst="rect">
            <a:avLst/>
          </a:prstGeom>
        </p:spPr>
      </p:pic>
      <p:sp>
        <p:nvSpPr>
          <p:cNvPr id="15" name="Problem head 3"/>
          <p:cNvSpPr txBox="1"/>
          <p:nvPr/>
        </p:nvSpPr>
        <p:spPr>
          <a:xfrm>
            <a:off x="132588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</a:t>
            </a:r>
            <a:endParaRPr lang="en-US" sz="1600" dirty="0"/>
          </a:p>
        </p:txBody>
      </p:sp>
      <p:sp>
        <p:nvSpPr>
          <p:cNvPr id="16" name="Problem body 3"/>
          <p:cNvSpPr txBox="1"/>
          <p:nvPr/>
        </p:nvSpPr>
        <p:spPr>
          <a:xfrm>
            <a:off x="1325880" y="426110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Partition 1D vectors across MPI ranks for element-wise transforms and global reductions.</a:t>
            </a:r>
            <a:endParaRPr lang="en-US" sz="1400" dirty="0"/>
          </a:p>
        </p:txBody>
      </p:sp>
      <p:sp>
        <p:nvSpPr>
          <p:cNvPr id="17" name="Problem icon 4 circle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Problem icon 4 icon" descr="FaStopwat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11" y="5319431"/>
            <a:ext cx="260787" cy="260787"/>
          </a:xfrm>
          <a:prstGeom prst="rect">
            <a:avLst/>
          </a:prstGeom>
        </p:spPr>
      </p:pic>
      <p:sp>
        <p:nvSpPr>
          <p:cNvPr id="19" name="Problem head 4"/>
          <p:cNvSpPr txBox="1"/>
          <p:nvPr/>
        </p:nvSpPr>
        <p:spPr>
          <a:xfrm>
            <a:off x="1325880" y="5120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measure</a:t>
            </a:r>
            <a:endParaRPr lang="en-US" sz="1600" dirty="0"/>
          </a:p>
        </p:txBody>
      </p:sp>
      <p:sp>
        <p:nvSpPr>
          <p:cNvPr id="20" name="Problem body 4"/>
          <p:cNvSpPr txBox="1"/>
          <p:nvPr/>
        </p:nvSpPr>
        <p:spPr>
          <a:xfrm>
            <a:off x="1325880" y="54498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End-to-end time, split into pure computation and collective inter-process communication.</a:t>
            </a:r>
            <a:endParaRPr lang="en-US" sz="1400" dirty="0"/>
          </a:p>
        </p:txBody>
      </p:sp>
      <p:sp>
        <p:nvSpPr>
          <p:cNvPr id="21" name="Memory-bound card"/>
          <p:cNvSpPr/>
          <p:nvPr/>
        </p:nvSpPr>
        <p:spPr>
          <a:xfrm>
            <a:off x="6766560" y="1554480"/>
            <a:ext cx="48737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2" name="MB label"/>
          <p:cNvSpPr txBox="1"/>
          <p:nvPr/>
        </p:nvSpPr>
        <p:spPr>
          <a:xfrm>
            <a:off x="7040880" y="173736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MEMORY-BOUND: TRIVIAL ADDITION</a:t>
            </a:r>
            <a:endParaRPr lang="en-US" sz="1200" dirty="0"/>
          </a:p>
        </p:txBody>
      </p:sp>
      <p:sp>
        <p:nvSpPr>
          <p:cNvPr id="23" name="MB stat"/>
          <p:cNvSpPr txBox="1"/>
          <p:nvPr/>
        </p:nvSpPr>
        <p:spPr>
          <a:xfrm>
            <a:off x="7040880" y="205740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0.04 FLOPs/byte</a:t>
            </a:r>
            <a:endParaRPr lang="en-US" sz="3000" dirty="0"/>
          </a:p>
        </p:txBody>
      </p:sp>
      <p:sp>
        <p:nvSpPr>
          <p:cNvPr id="24" name="MB text"/>
          <p:cNvSpPr txBox="1"/>
          <p:nvPr/>
        </p:nvSpPr>
        <p:spPr>
          <a:xfrm>
            <a:off x="7040880" y="274320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add per 24 bytes moved. DRAM latency of 100 to 200 cycles stalls the cores, so extra cores give almost no speedup.</a:t>
            </a:r>
            <a:endParaRPr lang="en-US" sz="1400" dirty="0"/>
          </a:p>
        </p:txBody>
      </p:sp>
      <p:sp>
        <p:nvSpPr>
          <p:cNvPr id="25" name="Compute-bound card"/>
          <p:cNvSpPr/>
          <p:nvPr/>
        </p:nvSpPr>
        <p:spPr>
          <a:xfrm>
            <a:off x="6766560" y="3977640"/>
            <a:ext cx="48737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6" name="CB label"/>
          <p:cNvSpPr txBox="1"/>
          <p:nvPr/>
        </p:nvSpPr>
        <p:spPr>
          <a:xfrm>
            <a:off x="7040880" y="41605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COMPUTE-BOUND: NON-LINEAR PIPELINE</a:t>
            </a:r>
            <a:endParaRPr lang="en-US" sz="1200" dirty="0"/>
          </a:p>
        </p:txBody>
      </p:sp>
      <p:sp>
        <p:nvSpPr>
          <p:cNvPr id="27" name="CB stat"/>
          <p:cNvSpPr txBox="1"/>
          <p:nvPr/>
        </p:nvSpPr>
        <p:spPr>
          <a:xfrm>
            <a:off x="7040880" y="448056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90 to 110 cycles/element</a:t>
            </a:r>
            <a:endParaRPr lang="en-US" sz="3000" dirty="0"/>
          </a:p>
        </p:txBody>
      </p:sp>
      <p:sp>
        <p:nvSpPr>
          <p:cNvPr id="28" name="CB text"/>
          <p:cNvSpPr txBox="1"/>
          <p:nvPr/>
        </p:nvSpPr>
        <p:spPr>
          <a:xfrm>
            <a:off x="7040880" y="5413248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√ and trigonometric functions keep the FPUs busy, and the prefetcher hides DRAM latency, so all threads scale.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1  |  MATHEMATICAL FORMULATION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Mathematical Formulation</a:t>
            </a:r>
            <a:endParaRPr lang="en-US" sz="3200" dirty="0"/>
          </a:p>
        </p:txBody>
      </p:sp>
      <p:sp>
        <p:nvSpPr>
          <p:cNvPr id="5" name="Math card 1"/>
          <p:cNvSpPr/>
          <p:nvPr/>
        </p:nvSpPr>
        <p:spPr>
          <a:xfrm>
            <a:off x="548640" y="1508760"/>
            <a:ext cx="543153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6" name="Math tag 1"/>
          <p:cNvSpPr txBox="1"/>
          <p:nvPr/>
        </p:nvSpPr>
        <p:spPr>
          <a:xfrm>
            <a:off x="822960" y="17099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1  LINEAR COMBINATION </a:t>
            </a:r>
            <a:endParaRPr lang="en-US" sz="1200" dirty="0"/>
          </a:p>
        </p:txBody>
      </p:sp>
      <p:sp>
        <p:nvSpPr>
          <p:cNvPr id="7" name="Math formula 1"/>
          <p:cNvSpPr txBox="1"/>
          <p:nvPr/>
        </p:nvSpPr>
        <p:spPr>
          <a:xfrm>
            <a:off x="822960" y="2103120"/>
            <a:ext cx="4882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Z[i] = α × X[i] + β × Y[i]</a:t>
            </a:r>
            <a:endParaRPr lang="en-US" sz="2200" dirty="0"/>
          </a:p>
        </p:txBody>
      </p:sp>
      <p:sp>
        <p:nvSpPr>
          <p:cNvPr id="8" name="Math note 1"/>
          <p:cNvSpPr txBox="1"/>
          <p:nvPr/>
        </p:nvSpPr>
        <p:spPr>
          <a:xfrm>
            <a:off x="822960" y="30175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α = 2.5, β = 1.5. Memory-bound kernel with one pass over the data.</a:t>
            </a:r>
            <a:endParaRPr lang="en-US" sz="1400" dirty="0"/>
          </a:p>
        </p:txBody>
      </p:sp>
      <p:sp>
        <p:nvSpPr>
          <p:cNvPr id="9" name="Math card 2"/>
          <p:cNvSpPr/>
          <p:nvPr/>
        </p:nvSpPr>
        <p:spPr>
          <a:xfrm>
            <a:off x="6208776" y="1508760"/>
            <a:ext cx="543153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0" name="Math tag 2"/>
          <p:cNvSpPr txBox="1"/>
          <p:nvPr/>
        </p:nvSpPr>
        <p:spPr>
          <a:xfrm>
            <a:off x="6483096" y="17099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2  NON-LINEAR PIPELINE (FPU STRESS TEST)</a:t>
            </a:r>
            <a:endParaRPr lang="en-US" sz="1200" dirty="0"/>
          </a:p>
        </p:txBody>
      </p:sp>
      <p:sp>
        <p:nvSpPr>
          <p:cNvPr id="11" name="Math formula 2"/>
          <p:cNvSpPr txBox="1"/>
          <p:nvPr/>
        </p:nvSpPr>
        <p:spPr>
          <a:xfrm>
            <a:off x="6483096" y="2103120"/>
            <a:ext cx="4882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W[i] = √(X[i]² + Y[i]²)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 + sin X[i] + cos Y[i]</a:t>
            </a:r>
            <a:endParaRPr lang="en-US" sz="2000" dirty="0"/>
          </a:p>
        </p:txBody>
      </p:sp>
      <p:sp>
        <p:nvSpPr>
          <p:cNvPr id="12" name="Math note 2"/>
          <p:cNvSpPr txBox="1"/>
          <p:nvPr/>
        </p:nvSpPr>
        <p:spPr>
          <a:xfrm>
            <a:off x="6483096" y="30175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Compute-bound: about 90 to 110 cycles per element.</a:t>
            </a:r>
            <a:endParaRPr lang="en-US" sz="1400" dirty="0"/>
          </a:p>
        </p:txBody>
      </p:sp>
      <p:sp>
        <p:nvSpPr>
          <p:cNvPr id="13" name="Math card 3"/>
          <p:cNvSpPr/>
          <p:nvPr/>
        </p:nvSpPr>
        <p:spPr>
          <a:xfrm>
            <a:off x="548640" y="3931920"/>
            <a:ext cx="543153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4" name="Math tag 3"/>
          <p:cNvSpPr txBox="1"/>
          <p:nvPr/>
        </p:nvSpPr>
        <p:spPr>
          <a:xfrm>
            <a:off x="822960" y="413308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  GLOBAL REDUCTIONS</a:t>
            </a:r>
            <a:endParaRPr lang="en-US" sz="1200" dirty="0"/>
          </a:p>
        </p:txBody>
      </p:sp>
      <p:sp>
        <p:nvSpPr>
          <p:cNvPr id="15" name="Math formula 3"/>
          <p:cNvSpPr txBox="1"/>
          <p:nvPr/>
        </p:nvSpPr>
        <p:spPr>
          <a:xfrm>
            <a:off x="822960" y="4526280"/>
            <a:ext cx="4882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 = Σ X[i] × Y[i]     (dot product)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‖X‖₂ = √(Σ X[i]²)     (L2 norm)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S_Z = Σ Z[i];  min W, max W</a:t>
            </a:r>
            <a:endParaRPr lang="en-US" sz="1700" dirty="0"/>
          </a:p>
        </p:txBody>
      </p:sp>
      <p:sp>
        <p:nvSpPr>
          <p:cNvPr id="16" name="Math card 4"/>
          <p:cNvSpPr/>
          <p:nvPr/>
        </p:nvSpPr>
        <p:spPr>
          <a:xfrm>
            <a:off x="6208776" y="3931920"/>
            <a:ext cx="543153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7" name="Math tag 4"/>
          <p:cNvSpPr txBox="1"/>
          <p:nvPr/>
        </p:nvSpPr>
        <p:spPr>
          <a:xfrm>
            <a:off x="6483096" y="413308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4  DETERMINISTIC INPUT</a:t>
            </a:r>
            <a:endParaRPr lang="en-US" sz="1200" dirty="0"/>
          </a:p>
        </p:txBody>
      </p:sp>
      <p:sp>
        <p:nvSpPr>
          <p:cNvPr id="18" name="Math formula 4"/>
          <p:cNvSpPr txBox="1"/>
          <p:nvPr/>
        </p:nvSpPr>
        <p:spPr>
          <a:xfrm>
            <a:off x="6483096" y="4526280"/>
            <a:ext cx="4882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X[i] = sin(0.01 × (i mod 1000)) + 1.5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Y[i] = cos(0.01 × (i mod 1000)) + 2.0</a:t>
            </a:r>
            <a:endParaRPr lang="en-US" sz="1700" dirty="0"/>
          </a:p>
        </p:txBody>
      </p:sp>
      <p:sp>
        <p:nvSpPr>
          <p:cNvPr id="19" name="Math note 4"/>
          <p:cNvSpPr txBox="1"/>
          <p:nvPr/>
        </p:nvSpPr>
        <p:spPr>
          <a:xfrm>
            <a:off x="6483096" y="544068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Generated in memory: no disk I/O, fully reproducible, exact verification.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1  |  PARALLEL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1D Block Domain Decomposition</a:t>
            </a:r>
            <a:endParaRPr lang="en-US" sz="3200" dirty="0"/>
          </a:p>
        </p:txBody>
      </p:sp>
      <p:sp>
        <p:nvSpPr>
          <p:cNvPr id="5" name="Diagram label"/>
          <p:cNvSpPr txBox="1"/>
          <p:nvPr/>
        </p:nvSpPr>
        <p:spPr>
          <a:xfrm>
            <a:off x="54864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3"/>
                </a:solidFill>
              </a:rPr>
              <a:t>GLOBAL VECTOR  |  N ELEMENTS PARTITIONED ACROSS P = 4 RANKS</a:t>
            </a:r>
            <a:endParaRPr lang="en-US" sz="1200" dirty="0"/>
          </a:p>
        </p:txBody>
      </p:sp>
      <p:sp>
        <p:nvSpPr>
          <p:cNvPr id="6" name="Displs label 0"/>
          <p:cNvSpPr txBox="1"/>
          <p:nvPr/>
        </p:nvSpPr>
        <p:spPr>
          <a:xfrm>
            <a:off x="54864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displs[0]</a:t>
            </a:r>
            <a:endParaRPr lang="en-US" sz="1400" dirty="0"/>
          </a:p>
        </p:txBody>
      </p:sp>
      <p:sp>
        <p:nvSpPr>
          <p:cNvPr id="7" name="Block 0"/>
          <p:cNvSpPr/>
          <p:nvPr/>
        </p:nvSpPr>
        <p:spPr>
          <a:xfrm>
            <a:off x="548640" y="214884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Block text 0"/>
          <p:cNvSpPr txBox="1"/>
          <p:nvPr/>
        </p:nvSpPr>
        <p:spPr>
          <a:xfrm>
            <a:off x="54864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0</a:t>
            </a:r>
            <a:endParaRPr lang="en-US" sz="2000" dirty="0"/>
          </a:p>
        </p:txBody>
      </p:sp>
      <p:sp>
        <p:nvSpPr>
          <p:cNvPr id="9" name="Count label 0"/>
          <p:cNvSpPr txBox="1"/>
          <p:nvPr/>
        </p:nvSpPr>
        <p:spPr>
          <a:xfrm>
            <a:off x="548640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local_n(0) elements</a:t>
            </a:r>
            <a:endParaRPr lang="en-US" sz="1400" dirty="0"/>
          </a:p>
        </p:txBody>
      </p:sp>
      <p:sp>
        <p:nvSpPr>
          <p:cNvPr id="10" name="Displs label 1"/>
          <p:cNvSpPr txBox="1"/>
          <p:nvPr/>
        </p:nvSpPr>
        <p:spPr>
          <a:xfrm>
            <a:off x="3361944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displs[1]</a:t>
            </a:r>
            <a:endParaRPr lang="en-US" sz="1400" dirty="0"/>
          </a:p>
        </p:txBody>
      </p:sp>
      <p:sp>
        <p:nvSpPr>
          <p:cNvPr id="11" name="Block 1"/>
          <p:cNvSpPr/>
          <p:nvPr/>
        </p:nvSpPr>
        <p:spPr>
          <a:xfrm>
            <a:off x="3361944" y="214884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Block text 1"/>
          <p:cNvSpPr txBox="1"/>
          <p:nvPr/>
        </p:nvSpPr>
        <p:spPr>
          <a:xfrm>
            <a:off x="3361944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1</a:t>
            </a:r>
            <a:endParaRPr lang="en-US" sz="2000" dirty="0"/>
          </a:p>
        </p:txBody>
      </p:sp>
      <p:sp>
        <p:nvSpPr>
          <p:cNvPr id="13" name="Count label 1"/>
          <p:cNvSpPr txBox="1"/>
          <p:nvPr/>
        </p:nvSpPr>
        <p:spPr>
          <a:xfrm>
            <a:off x="3361944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local_n(1) elements</a:t>
            </a:r>
            <a:endParaRPr lang="en-US" sz="1400" dirty="0"/>
          </a:p>
        </p:txBody>
      </p:sp>
      <p:sp>
        <p:nvSpPr>
          <p:cNvPr id="14" name="Displs label 2"/>
          <p:cNvSpPr txBox="1"/>
          <p:nvPr/>
        </p:nvSpPr>
        <p:spPr>
          <a:xfrm>
            <a:off x="6175248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displs[2]</a:t>
            </a:r>
            <a:endParaRPr lang="en-US" sz="1400" dirty="0"/>
          </a:p>
        </p:txBody>
      </p:sp>
      <p:sp>
        <p:nvSpPr>
          <p:cNvPr id="15" name="Block 2"/>
          <p:cNvSpPr/>
          <p:nvPr/>
        </p:nvSpPr>
        <p:spPr>
          <a:xfrm>
            <a:off x="6175248" y="214884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Block text 2"/>
          <p:cNvSpPr txBox="1"/>
          <p:nvPr/>
        </p:nvSpPr>
        <p:spPr>
          <a:xfrm>
            <a:off x="6175248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2</a:t>
            </a:r>
            <a:endParaRPr lang="en-US" sz="2000" dirty="0"/>
          </a:p>
        </p:txBody>
      </p:sp>
      <p:sp>
        <p:nvSpPr>
          <p:cNvPr id="17" name="Count label 2"/>
          <p:cNvSpPr txBox="1"/>
          <p:nvPr/>
        </p:nvSpPr>
        <p:spPr>
          <a:xfrm>
            <a:off x="6175248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local_n(2) elements</a:t>
            </a:r>
            <a:endParaRPr lang="en-US" sz="1400" dirty="0"/>
          </a:p>
        </p:txBody>
      </p:sp>
      <p:sp>
        <p:nvSpPr>
          <p:cNvPr id="18" name="Displs label 3"/>
          <p:cNvSpPr txBox="1"/>
          <p:nvPr/>
        </p:nvSpPr>
        <p:spPr>
          <a:xfrm>
            <a:off x="8988552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displs[3]</a:t>
            </a:r>
            <a:endParaRPr lang="en-US" sz="1400" dirty="0"/>
          </a:p>
        </p:txBody>
      </p:sp>
      <p:sp>
        <p:nvSpPr>
          <p:cNvPr id="19" name="Block 3"/>
          <p:cNvSpPr/>
          <p:nvPr/>
        </p:nvSpPr>
        <p:spPr>
          <a:xfrm>
            <a:off x="8988552" y="214884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Block text 3"/>
          <p:cNvSpPr txBox="1"/>
          <p:nvPr/>
        </p:nvSpPr>
        <p:spPr>
          <a:xfrm>
            <a:off x="8988552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Rank 3</a:t>
            </a:r>
            <a:endParaRPr lang="en-US" sz="2000" dirty="0"/>
          </a:p>
        </p:txBody>
      </p:sp>
      <p:sp>
        <p:nvSpPr>
          <p:cNvPr id="21" name="Count label 3"/>
          <p:cNvSpPr txBox="1"/>
          <p:nvPr/>
        </p:nvSpPr>
        <p:spPr>
          <a:xfrm>
            <a:off x="8988552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local_n(3) elements</a:t>
            </a:r>
            <a:endParaRPr lang="en-US" sz="1400" dirty="0"/>
          </a:p>
        </p:txBody>
      </p:sp>
      <p:sp>
        <p:nvSpPr>
          <p:cNvPr id="22" name="Decomp card 1"/>
          <p:cNvSpPr/>
          <p:nvPr/>
        </p:nvSpPr>
        <p:spPr>
          <a:xfrm>
            <a:off x="548640" y="3749040"/>
            <a:ext cx="354482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3" name="Decomp tag 1"/>
          <p:cNvSpPr txBox="1"/>
          <p:nvPr/>
        </p:nvSpPr>
        <p:spPr>
          <a:xfrm>
            <a:off x="822960" y="3950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BLOCK SIZES WITH REMAINDER</a:t>
            </a:r>
            <a:endParaRPr lang="en-US" sz="1200" dirty="0"/>
          </a:p>
        </p:txBody>
      </p:sp>
      <p:sp>
        <p:nvSpPr>
          <p:cNvPr id="24" name="Decomp formula 1"/>
          <p:cNvSpPr txBox="1"/>
          <p:nvPr/>
        </p:nvSpPr>
        <p:spPr>
          <a:xfrm>
            <a:off x="822960" y="434340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 = N mod P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local_n(r) = ⌊N/P⌋ + [r &lt; R]</a:t>
            </a:r>
            <a:endParaRPr lang="en-US" sz="1600" dirty="0"/>
          </a:p>
        </p:txBody>
      </p:sp>
      <p:sp>
        <p:nvSpPr>
          <p:cNvPr id="25" name="Decomp text 1"/>
          <p:cNvSpPr txBox="1"/>
          <p:nvPr/>
        </p:nvSpPr>
        <p:spPr>
          <a:xfrm>
            <a:off x="822960" y="52120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first R ranks take one extra element, so no element is ever truncated.</a:t>
            </a:r>
            <a:endParaRPr lang="en-US" sz="1400" dirty="0"/>
          </a:p>
        </p:txBody>
      </p:sp>
      <p:sp>
        <p:nvSpPr>
          <p:cNvPr id="26" name="Decomp card 2"/>
          <p:cNvSpPr/>
          <p:nvPr/>
        </p:nvSpPr>
        <p:spPr>
          <a:xfrm>
            <a:off x="4322064" y="3749040"/>
            <a:ext cx="354482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7" name="Decomp tag 2"/>
          <p:cNvSpPr txBox="1"/>
          <p:nvPr/>
        </p:nvSpPr>
        <p:spPr>
          <a:xfrm>
            <a:off x="4596384" y="3950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DISPLACEMENTS</a:t>
            </a:r>
            <a:endParaRPr lang="en-US" sz="1200" dirty="0"/>
          </a:p>
        </p:txBody>
      </p:sp>
      <p:sp>
        <p:nvSpPr>
          <p:cNvPr id="28" name="Decomp formula 2"/>
          <p:cNvSpPr txBox="1"/>
          <p:nvPr/>
        </p:nvSpPr>
        <p:spPr>
          <a:xfrm>
            <a:off x="4596384" y="434340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displs[r] = Σ counts[k]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    k = 0 … r−1</a:t>
            </a:r>
            <a:endParaRPr lang="en-US" sz="1600" dirty="0"/>
          </a:p>
        </p:txBody>
      </p:sp>
      <p:sp>
        <p:nvSpPr>
          <p:cNvPr id="29" name="Decomp text 2"/>
          <p:cNvSpPr txBox="1"/>
          <p:nvPr/>
        </p:nvSpPr>
        <p:spPr>
          <a:xfrm>
            <a:off x="4596384" y="52120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Prefix sums give a contiguous, zero-overlap layout for MPI_Scatterv and MPI_Gatherv.</a:t>
            </a:r>
            <a:endParaRPr lang="en-US" sz="1400" dirty="0"/>
          </a:p>
        </p:txBody>
      </p:sp>
      <p:sp>
        <p:nvSpPr>
          <p:cNvPr id="30" name="Decomp card 3"/>
          <p:cNvSpPr/>
          <p:nvPr/>
        </p:nvSpPr>
        <p:spPr>
          <a:xfrm>
            <a:off x="8095488" y="3749040"/>
            <a:ext cx="354482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31" name="Decomp tag 3"/>
          <p:cNvSpPr txBox="1"/>
          <p:nvPr/>
        </p:nvSpPr>
        <p:spPr>
          <a:xfrm>
            <a:off x="8369808" y="3950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LOCAL MEMORY FOOTPRINT</a:t>
            </a:r>
            <a:endParaRPr lang="en-US" sz="1200" dirty="0"/>
          </a:p>
        </p:txBody>
      </p:sp>
      <p:sp>
        <p:nvSpPr>
          <p:cNvPr id="32" name="Decomp formula 3"/>
          <p:cNvSpPr txBox="1"/>
          <p:nvPr/>
        </p:nvSpPr>
        <p:spPr>
          <a:xfrm>
            <a:off x="8369808" y="4343400"/>
            <a:ext cx="2996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O(N / P) per rank</a:t>
            </a:r>
            <a:endParaRPr lang="en-US" sz="2000" dirty="0"/>
          </a:p>
        </p:txBody>
      </p:sp>
      <p:sp>
        <p:nvSpPr>
          <p:cNvPr id="33" name="Decomp text 3"/>
          <p:cNvSpPr txBox="1"/>
          <p:nvPr/>
        </p:nvSpPr>
        <p:spPr>
          <a:xfrm>
            <a:off x="8369808" y="52120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Each rank allocates only its slice, so sub-vectors can stay resident in per-core cache.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1  |  PARALLEL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Two Distributed Workflow Models</a:t>
            </a:r>
            <a:endParaRPr lang="en-US" sz="3200" dirty="0"/>
          </a:p>
        </p:txBody>
      </p:sp>
      <p:sp>
        <p:nvSpPr>
          <p:cNvPr id="5" name="Model card 1"/>
          <p:cNvSpPr/>
          <p:nvPr/>
        </p:nvSpPr>
        <p:spPr>
          <a:xfrm>
            <a:off x="548640" y="1508760"/>
            <a:ext cx="5431536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6" name="Model header 1"/>
          <p:cNvSpPr/>
          <p:nvPr/>
        </p:nvSpPr>
        <p:spPr>
          <a:xfrm>
            <a:off x="548640" y="1508760"/>
            <a:ext cx="5431536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Model title 1"/>
          <p:cNvSpPr txBox="1"/>
          <p:nvPr/>
        </p:nvSpPr>
        <p:spPr>
          <a:xfrm>
            <a:off x="822960" y="1600200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 A: Centralized Scatter-Gather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Master-worker architecture</a:t>
            </a:r>
            <a:endParaRPr lang="en-US" sz="1400" dirty="0"/>
          </a:p>
        </p:txBody>
      </p:sp>
      <p:sp>
        <p:nvSpPr>
          <p:cNvPr id="8" name="Step badge 1.1"/>
          <p:cNvSpPr/>
          <p:nvPr/>
        </p:nvSpPr>
        <p:spPr>
          <a:xfrm>
            <a:off x="822960" y="2734056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Step num 1.1"/>
          <p:cNvSpPr txBox="1"/>
          <p:nvPr/>
        </p:nvSpPr>
        <p:spPr>
          <a:xfrm>
            <a:off x="82296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tep text 1.1"/>
          <p:cNvSpPr txBox="1"/>
          <p:nvPr/>
        </p:nvSpPr>
        <p:spPr>
          <a:xfrm>
            <a:off x="1463040" y="269748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Rank 0 holds the full vectors X and Y</a:t>
            </a:r>
            <a:endParaRPr lang="en-US" sz="1400" dirty="0"/>
          </a:p>
        </p:txBody>
      </p:sp>
      <p:sp>
        <p:nvSpPr>
          <p:cNvPr id="11" name="Step badge 1.2"/>
          <p:cNvSpPr/>
          <p:nvPr/>
        </p:nvSpPr>
        <p:spPr>
          <a:xfrm>
            <a:off x="822960" y="3447288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Step num 1.2"/>
          <p:cNvSpPr txBox="1"/>
          <p:nvPr/>
        </p:nvSpPr>
        <p:spPr>
          <a:xfrm>
            <a:off x="82296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 text 1.2"/>
          <p:cNvSpPr txBox="1"/>
          <p:nvPr/>
        </p:nvSpPr>
        <p:spPr>
          <a:xfrm>
            <a:off x="1463040" y="3410712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MPI_Scatterv sends one slice to every rank</a:t>
            </a:r>
            <a:endParaRPr lang="en-US" sz="1400" dirty="0"/>
          </a:p>
        </p:txBody>
      </p:sp>
      <p:sp>
        <p:nvSpPr>
          <p:cNvPr id="14" name="Step badge 1.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Step num 1.3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text 1.3"/>
          <p:cNvSpPr txBox="1"/>
          <p:nvPr/>
        </p:nvSpPr>
        <p:spPr>
          <a:xfrm>
            <a:off x="1463040" y="412394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rank computes Z, W and partial sums locally</a:t>
            </a:r>
            <a:endParaRPr lang="en-US" sz="1400" dirty="0"/>
          </a:p>
        </p:txBody>
      </p:sp>
      <p:sp>
        <p:nvSpPr>
          <p:cNvPr id="17" name="Step badge 1.4"/>
          <p:cNvSpPr/>
          <p:nvPr/>
        </p:nvSpPr>
        <p:spPr>
          <a:xfrm>
            <a:off x="822960" y="4873752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8" name="Step num 1.4"/>
          <p:cNvSpPr txBox="1"/>
          <p:nvPr/>
        </p:nvSpPr>
        <p:spPr>
          <a:xfrm>
            <a:off x="82296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ep text 1.4"/>
          <p:cNvSpPr txBox="1"/>
          <p:nvPr/>
        </p:nvSpPr>
        <p:spPr>
          <a:xfrm>
            <a:off x="1463040" y="4837176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MPI_Gatherv returns Z and W to rank 0</a:t>
            </a:r>
            <a:endParaRPr lang="en-US" sz="1400" dirty="0"/>
          </a:p>
        </p:txBody>
      </p:sp>
      <p:sp>
        <p:nvSpPr>
          <p:cNvPr id="20" name="Trade-off pill 1"/>
          <p:cNvSpPr/>
          <p:nvPr/>
        </p:nvSpPr>
        <p:spPr>
          <a:xfrm>
            <a:off x="822960" y="5486400"/>
            <a:ext cx="4882896" cy="457200"/>
          </a:xfrm>
          <a:prstGeom prst="roundRect">
            <a:avLst>
              <a:gd name="adj" fmla="val 20000"/>
            </a:avLst>
          </a:prstGeom>
          <a:solidFill>
            <a:srgbClr val="FDF1E3"/>
          </a:solidFill>
          <a:ln w="6350">
            <a:solidFill>
              <a:srgbClr val="FDF1E3"/>
            </a:solidFill>
            <a:prstDash val="solid"/>
          </a:ln>
        </p:spPr>
      </p:sp>
      <p:sp>
        <p:nvSpPr>
          <p:cNvPr id="21" name="Trade-off text 1"/>
          <p:cNvSpPr txBox="1"/>
          <p:nvPr/>
        </p:nvSpPr>
        <p:spPr>
          <a:xfrm>
            <a:off x="822960" y="548640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Trade-off: O(N) communication overhead</a:t>
            </a:r>
            <a:endParaRPr lang="en-US" sz="1400" dirty="0"/>
          </a:p>
        </p:txBody>
      </p:sp>
      <p:sp>
        <p:nvSpPr>
          <p:cNvPr id="22" name="Model card 2"/>
          <p:cNvSpPr/>
          <p:nvPr/>
        </p:nvSpPr>
        <p:spPr>
          <a:xfrm>
            <a:off x="6208776" y="1508760"/>
            <a:ext cx="5431536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3" name="Model header 2"/>
          <p:cNvSpPr/>
          <p:nvPr/>
        </p:nvSpPr>
        <p:spPr>
          <a:xfrm>
            <a:off x="6208776" y="1508760"/>
            <a:ext cx="5431536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Model title 2"/>
          <p:cNvSpPr txBox="1"/>
          <p:nvPr/>
        </p:nvSpPr>
        <p:spPr>
          <a:xfrm>
            <a:off x="6483096" y="1600200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 B: In-Situ Domain-Decomposed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Scalable cluster architecture</a:t>
            </a:r>
            <a:endParaRPr lang="en-US" sz="1400" dirty="0"/>
          </a:p>
        </p:txBody>
      </p:sp>
      <p:sp>
        <p:nvSpPr>
          <p:cNvPr id="25" name="Step badge 2.1"/>
          <p:cNvSpPr/>
          <p:nvPr/>
        </p:nvSpPr>
        <p:spPr>
          <a:xfrm>
            <a:off x="6483096" y="27340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tep num 2.1"/>
          <p:cNvSpPr txBox="1"/>
          <p:nvPr/>
        </p:nvSpPr>
        <p:spPr>
          <a:xfrm>
            <a:off x="6483096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7" name="Step text 2.1"/>
          <p:cNvSpPr txBox="1"/>
          <p:nvPr/>
        </p:nvSpPr>
        <p:spPr>
          <a:xfrm>
            <a:off x="7123176" y="269748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rank initializes its own sub-domain in place</a:t>
            </a:r>
            <a:endParaRPr lang="en-US" sz="1400" dirty="0"/>
          </a:p>
        </p:txBody>
      </p:sp>
      <p:sp>
        <p:nvSpPr>
          <p:cNvPr id="28" name="Step badge 2.2"/>
          <p:cNvSpPr/>
          <p:nvPr/>
        </p:nvSpPr>
        <p:spPr>
          <a:xfrm>
            <a:off x="6483096" y="344728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Step num 2.2"/>
          <p:cNvSpPr txBox="1"/>
          <p:nvPr/>
        </p:nvSpPr>
        <p:spPr>
          <a:xfrm>
            <a:off x="6483096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Step text 2.2"/>
          <p:cNvSpPr txBox="1"/>
          <p:nvPr/>
        </p:nvSpPr>
        <p:spPr>
          <a:xfrm>
            <a:off x="7123176" y="3410712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Pure O(N/P) local computation, no vector transport</a:t>
            </a:r>
            <a:endParaRPr lang="en-US" sz="1400" dirty="0"/>
          </a:p>
        </p:txBody>
      </p:sp>
      <p:sp>
        <p:nvSpPr>
          <p:cNvPr id="31" name="Step badge 2.3"/>
          <p:cNvSpPr/>
          <p:nvPr/>
        </p:nvSpPr>
        <p:spPr>
          <a:xfrm>
            <a:off x="6483096" y="4160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2" name="Step num 2.3"/>
          <p:cNvSpPr txBox="1"/>
          <p:nvPr/>
        </p:nvSpPr>
        <p:spPr>
          <a:xfrm>
            <a:off x="6483096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Step text 2.3"/>
          <p:cNvSpPr txBox="1"/>
          <p:nvPr/>
        </p:nvSpPr>
        <p:spPr>
          <a:xfrm>
            <a:off x="7123176" y="412394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MPI_Reduce combines scalar results in O(log P)</a:t>
            </a:r>
            <a:endParaRPr lang="en-US" sz="1400" dirty="0"/>
          </a:p>
        </p:txBody>
      </p:sp>
      <p:sp>
        <p:nvSpPr>
          <p:cNvPr id="34" name="Step badge 2.4"/>
          <p:cNvSpPr/>
          <p:nvPr/>
        </p:nvSpPr>
        <p:spPr>
          <a:xfrm>
            <a:off x="6483096" y="48737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Step num 2.4"/>
          <p:cNvSpPr txBox="1"/>
          <p:nvPr/>
        </p:nvSpPr>
        <p:spPr>
          <a:xfrm>
            <a:off x="6483096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Step text 2.4"/>
          <p:cNvSpPr txBox="1"/>
          <p:nvPr/>
        </p:nvSpPr>
        <p:spPr>
          <a:xfrm>
            <a:off x="7123176" y="4837176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Rank 0 verifies output against the reference</a:t>
            </a:r>
            <a:endParaRPr lang="en-US" sz="1400" dirty="0"/>
          </a:p>
        </p:txBody>
      </p:sp>
      <p:sp>
        <p:nvSpPr>
          <p:cNvPr id="37" name="Trade-off pill 2"/>
          <p:cNvSpPr/>
          <p:nvPr/>
        </p:nvSpPr>
        <p:spPr>
          <a:xfrm>
            <a:off x="6483096" y="5486400"/>
            <a:ext cx="4882896" cy="457200"/>
          </a:xfrm>
          <a:prstGeom prst="roundRect">
            <a:avLst>
              <a:gd name="adj" fmla="val 20000"/>
            </a:avLst>
          </a:prstGeom>
          <a:solidFill>
            <a:srgbClr val="E3F3E8"/>
          </a:solidFill>
          <a:ln w="6350">
            <a:solidFill>
              <a:srgbClr val="E3F3E8"/>
            </a:solidFill>
            <a:prstDash val="solid"/>
          </a:ln>
        </p:spPr>
      </p:sp>
      <p:sp>
        <p:nvSpPr>
          <p:cNvPr id="38" name="Trade-off text 2"/>
          <p:cNvSpPr txBox="1"/>
          <p:nvPr/>
        </p:nvSpPr>
        <p:spPr>
          <a:xfrm>
            <a:off x="6483096" y="548640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Trade-off: maximum scalability, no bus bottleneck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2  |  WORKING PARALLEL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Open MPI Implementation and Verification</a:t>
            </a:r>
            <a:endParaRPr lang="en-US" sz="3200" dirty="0"/>
          </a:p>
        </p:txBody>
      </p:sp>
      <p:graphicFrame>
        <p:nvGraphicFramePr>
          <p:cNvPr id="8" name="MPI primitiv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4480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MPI primitive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 in the program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MPI_Scatterv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Sends variable-length slices from rank 0 using the displs offsets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 data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MPI_Reduce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Combines dot product, L2 norm and Z-sum (SUM), plus W min and max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P)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MPI_Gatherv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Collects the result vectors Z and W back on rank 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 data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MPI_Barrier, MPI_Wtime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 timing: scatter, compute, reduce and gather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negligible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Verification card"/>
          <p:cNvSpPr/>
          <p:nvPr/>
        </p:nvSpPr>
        <p:spPr>
          <a:xfrm>
            <a:off x="7680960" y="1554480"/>
            <a:ext cx="3959352" cy="448056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7" name="Verify icon circle"/>
          <p:cNvSpPr/>
          <p:nvPr/>
        </p:nvSpPr>
        <p:spPr>
          <a:xfrm>
            <a:off x="7955280" y="178308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4" name="Verify icon icon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413" y="1931213"/>
            <a:ext cx="252374" cy="252374"/>
          </a:xfrm>
          <a:prstGeom prst="rect">
            <a:avLst/>
          </a:prstGeom>
        </p:spPr>
      </p:pic>
      <p:sp>
        <p:nvSpPr>
          <p:cNvPr id="9" name="Verify title"/>
          <p:cNvSpPr txBox="1"/>
          <p:nvPr/>
        </p:nvSpPr>
        <p:spPr>
          <a:xfrm>
            <a:off x="8686800" y="17830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0" name="Verify list"/>
          <p:cNvSpPr txBox="1"/>
          <p:nvPr/>
        </p:nvSpPr>
        <p:spPr>
          <a:xfrm>
            <a:off x="7955280" y="2606040"/>
            <a:ext cx="341071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Outputs compared with the sequential baseline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|Z_mpi[i] − Z_ref[i]| &lt; 10⁻⁶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Reduction relative error &lt; 10⁻⁶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MPI 4.1.6, GCC 13.3 with -O3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100% correct for N = 1M, 10M, 50M and P = 1 to 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3  |  HOST MACHINE AND BENCHMARK SETUP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Hardware and Benchmark Matrix</a:t>
            </a:r>
            <a:endParaRPr lang="en-US" sz="3200" dirty="0"/>
          </a:p>
        </p:txBody>
      </p:sp>
      <p:graphicFrame>
        <p:nvGraphicFramePr>
          <p:cNvPr id="9" name="Hardware sp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126480" cy="4389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Processor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Intel Core i5-5300U @ 2.30 GHz (Broadwell, 14 nm)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Cores / threads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physical cores, 4 hardware threads (SMT)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Cache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L1d 64 KB, L1i 64 KB, L2 512 KB, L3 3 MiB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Memory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 GiB in WSL2 plus 1.0 GiB swap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Operating system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Ubuntu 24.04 LTS, kernel 6.6, WSL2 on Windows 11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Toolchain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GCC 13.3.0 (-O3), Open MPI 4.1.6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ers label"/>
          <p:cNvSpPr txBox="1"/>
          <p:nvPr/>
        </p:nvSpPr>
        <p:spPr>
          <a:xfrm>
            <a:off x="7040880" y="15544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3"/>
                </a:solidFill>
              </a:rPr>
              <a:t>WORKLOAD TIERS</a:t>
            </a:r>
            <a:endParaRPr lang="en-US" sz="1200" dirty="0"/>
          </a:p>
        </p:txBody>
      </p:sp>
      <p:sp>
        <p:nvSpPr>
          <p:cNvPr id="7" name="Tier card 1"/>
          <p:cNvSpPr/>
          <p:nvPr/>
        </p:nvSpPr>
        <p:spPr>
          <a:xfrm>
            <a:off x="7040880" y="1920240"/>
            <a:ext cx="14112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8" name="Tier N 1"/>
          <p:cNvSpPr txBox="1"/>
          <p:nvPr/>
        </p:nvSpPr>
        <p:spPr>
          <a:xfrm>
            <a:off x="7040880" y="2057400"/>
            <a:ext cx="1411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M</a:t>
            </a:r>
            <a:endParaRPr lang="en-US" sz="2800" dirty="0"/>
          </a:p>
        </p:txBody>
      </p:sp>
      <p:sp>
        <p:nvSpPr>
          <p:cNvPr id="4" name="Tier size 1"/>
          <p:cNvSpPr txBox="1"/>
          <p:nvPr/>
        </p:nvSpPr>
        <p:spPr>
          <a:xfrm>
            <a:off x="7040880" y="2651760"/>
            <a:ext cx="141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30.52 MB</a:t>
            </a:r>
            <a:endParaRPr lang="en-US" sz="1400" dirty="0"/>
          </a:p>
        </p:txBody>
      </p:sp>
      <p:sp>
        <p:nvSpPr>
          <p:cNvPr id="10" name="Tier card 2"/>
          <p:cNvSpPr/>
          <p:nvPr/>
        </p:nvSpPr>
        <p:spPr>
          <a:xfrm>
            <a:off x="8634984" y="1920240"/>
            <a:ext cx="14112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1" name="Tier N 2"/>
          <p:cNvSpPr txBox="1"/>
          <p:nvPr/>
        </p:nvSpPr>
        <p:spPr>
          <a:xfrm>
            <a:off x="8634984" y="2057400"/>
            <a:ext cx="1411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 M</a:t>
            </a:r>
            <a:endParaRPr lang="en-US" sz="2800" dirty="0"/>
          </a:p>
        </p:txBody>
      </p:sp>
      <p:sp>
        <p:nvSpPr>
          <p:cNvPr id="12" name="Tier size 2"/>
          <p:cNvSpPr txBox="1"/>
          <p:nvPr/>
        </p:nvSpPr>
        <p:spPr>
          <a:xfrm>
            <a:off x="8634984" y="2651760"/>
            <a:ext cx="141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305.18 MB</a:t>
            </a:r>
            <a:endParaRPr lang="en-US" sz="1400" dirty="0"/>
          </a:p>
        </p:txBody>
      </p:sp>
      <p:sp>
        <p:nvSpPr>
          <p:cNvPr id="13" name="Tier card 3"/>
          <p:cNvSpPr/>
          <p:nvPr/>
        </p:nvSpPr>
        <p:spPr>
          <a:xfrm>
            <a:off x="10229088" y="1920240"/>
            <a:ext cx="14112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4" name="Tier N 3"/>
          <p:cNvSpPr txBox="1"/>
          <p:nvPr/>
        </p:nvSpPr>
        <p:spPr>
          <a:xfrm>
            <a:off x="10229088" y="2057400"/>
            <a:ext cx="1411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 M</a:t>
            </a:r>
            <a:endParaRPr lang="en-US" sz="2800" dirty="0"/>
          </a:p>
        </p:txBody>
      </p:sp>
      <p:sp>
        <p:nvSpPr>
          <p:cNvPr id="15" name="Tier size 3"/>
          <p:cNvSpPr txBox="1"/>
          <p:nvPr/>
        </p:nvSpPr>
        <p:spPr>
          <a:xfrm>
            <a:off x="10229088" y="2651760"/>
            <a:ext cx="141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1.52 GB</a:t>
            </a:r>
            <a:endParaRPr lang="en-US" sz="1400" dirty="0"/>
          </a:p>
        </p:txBody>
      </p:sp>
      <p:sp>
        <p:nvSpPr>
          <p:cNvPr id="16" name="Ranks label"/>
          <p:cNvSpPr txBox="1"/>
          <p:nvPr/>
        </p:nvSpPr>
        <p:spPr>
          <a:xfrm>
            <a:off x="7040880" y="35204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3"/>
                </a:solidFill>
              </a:rPr>
              <a:t>PROCESS COUNTS (RANKS)</a:t>
            </a:r>
            <a:endParaRPr lang="en-US" sz="1200" dirty="0"/>
          </a:p>
        </p:txBody>
      </p:sp>
      <p:sp>
        <p:nvSpPr>
          <p:cNvPr id="17" name="P chip 1"/>
          <p:cNvSpPr/>
          <p:nvPr/>
        </p:nvSpPr>
        <p:spPr>
          <a:xfrm>
            <a:off x="7040880" y="3886200"/>
            <a:ext cx="123444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8" name="P chip text 1"/>
          <p:cNvSpPr txBox="1"/>
          <p:nvPr/>
        </p:nvSpPr>
        <p:spPr>
          <a:xfrm>
            <a:off x="7040880" y="38862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 = 1</a:t>
            </a:r>
            <a:endParaRPr lang="en-US" sz="1400" dirty="0"/>
          </a:p>
        </p:txBody>
      </p:sp>
      <p:sp>
        <p:nvSpPr>
          <p:cNvPr id="19" name="P desc 1"/>
          <p:cNvSpPr txBox="1"/>
          <p:nvPr/>
        </p:nvSpPr>
        <p:spPr>
          <a:xfrm>
            <a:off x="8458200" y="388620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Single-process baseline</a:t>
            </a:r>
            <a:endParaRPr lang="en-US" sz="1400" dirty="0"/>
          </a:p>
        </p:txBody>
      </p:sp>
      <p:sp>
        <p:nvSpPr>
          <p:cNvPr id="20" name="P chip 2"/>
          <p:cNvSpPr/>
          <p:nvPr/>
        </p:nvSpPr>
        <p:spPr>
          <a:xfrm>
            <a:off x="7040880" y="4453128"/>
            <a:ext cx="12344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P chip text 2"/>
          <p:cNvSpPr txBox="1"/>
          <p:nvPr/>
        </p:nvSpPr>
        <p:spPr>
          <a:xfrm>
            <a:off x="7040880" y="44531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 = 2</a:t>
            </a:r>
            <a:endParaRPr lang="en-US" sz="1400" dirty="0"/>
          </a:p>
        </p:txBody>
      </p:sp>
      <p:sp>
        <p:nvSpPr>
          <p:cNvPr id="22" name="P desc 2"/>
          <p:cNvSpPr txBox="1"/>
          <p:nvPr/>
        </p:nvSpPr>
        <p:spPr>
          <a:xfrm>
            <a:off x="8458200" y="445312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rank per physical core</a:t>
            </a:r>
            <a:endParaRPr lang="en-US" sz="1400" dirty="0"/>
          </a:p>
        </p:txBody>
      </p:sp>
      <p:sp>
        <p:nvSpPr>
          <p:cNvPr id="23" name="P chip 3"/>
          <p:cNvSpPr/>
          <p:nvPr/>
        </p:nvSpPr>
        <p:spPr>
          <a:xfrm>
            <a:off x="7040880" y="5020056"/>
            <a:ext cx="12344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P chip text 3"/>
          <p:cNvSpPr txBox="1"/>
          <p:nvPr/>
        </p:nvSpPr>
        <p:spPr>
          <a:xfrm>
            <a:off x="7040880" y="502005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 = 4</a:t>
            </a:r>
            <a:endParaRPr lang="en-US" sz="1400" dirty="0"/>
          </a:p>
        </p:txBody>
      </p:sp>
      <p:sp>
        <p:nvSpPr>
          <p:cNvPr id="25" name="P desc 3"/>
          <p:cNvSpPr txBox="1"/>
          <p:nvPr/>
        </p:nvSpPr>
        <p:spPr>
          <a:xfrm>
            <a:off x="8458200" y="502005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hardware threads busy</a:t>
            </a:r>
            <a:endParaRPr lang="en-US" sz="1400" dirty="0"/>
          </a:p>
        </p:txBody>
      </p:sp>
      <p:sp>
        <p:nvSpPr>
          <p:cNvPr id="26" name="P chip 4"/>
          <p:cNvSpPr/>
          <p:nvPr/>
        </p:nvSpPr>
        <p:spPr>
          <a:xfrm>
            <a:off x="7040880" y="5586984"/>
            <a:ext cx="1234440" cy="438912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7" name="P chip text 4"/>
          <p:cNvSpPr txBox="1"/>
          <p:nvPr/>
        </p:nvSpPr>
        <p:spPr>
          <a:xfrm>
            <a:off x="7040880" y="55869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 = 8, 16</a:t>
            </a:r>
            <a:endParaRPr lang="en-US" sz="1400" dirty="0"/>
          </a:p>
        </p:txBody>
      </p:sp>
      <p:sp>
        <p:nvSpPr>
          <p:cNvPr id="28" name="P desc 4"/>
          <p:cNvSpPr txBox="1"/>
          <p:nvPr/>
        </p:nvSpPr>
        <p:spPr>
          <a:xfrm>
            <a:off x="8458200" y="5586984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Oversubscribed, time-sliced</a:t>
            </a:r>
            <a:endParaRPr lang="en-US" sz="14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3  |  LIVE EXECUTION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Execution Screenshots: Terminal Verification</a:t>
            </a:r>
            <a:endParaRPr lang="en-US" sz="3200" dirty="0"/>
          </a:p>
        </p:txBody>
      </p:sp>
      <p:pic>
        <p:nvPicPr>
          <p:cNvPr id="5" name="Screenshot 1" descr="Host hardware: lscpu, free -h, mpirun --ver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440680" cy="3060383"/>
          </a:xfrm>
          <a:prstGeom prst="rect">
            <a:avLst/>
          </a:prstGeom>
        </p:spPr>
      </p:pic>
      <p:sp>
        <p:nvSpPr>
          <p:cNvPr id="6" name="Screenshot caption 1"/>
          <p:cNvSpPr txBox="1"/>
          <p:nvPr/>
        </p:nvSpPr>
        <p:spPr>
          <a:xfrm>
            <a:off x="548640" y="464229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Host hardware: lscpu, free -h, mpirun --version</a:t>
            </a:r>
            <a:endParaRPr lang="en-US" sz="1200" dirty="0"/>
          </a:p>
        </p:txBody>
      </p:sp>
      <p:pic>
        <p:nvPicPr>
          <p:cNvPr id="7" name="Screenshot 2" descr="In-situ run: N = 10M on 4 ranks, verification PAS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508760"/>
            <a:ext cx="5440680" cy="3060383"/>
          </a:xfrm>
          <a:prstGeom prst="rect">
            <a:avLst/>
          </a:prstGeom>
        </p:spPr>
      </p:pic>
      <p:sp>
        <p:nvSpPr>
          <p:cNvPr id="8" name="Screenshot caption 2"/>
          <p:cNvSpPr txBox="1"/>
          <p:nvPr/>
        </p:nvSpPr>
        <p:spPr>
          <a:xfrm>
            <a:off x="6199632" y="464229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In-situ run: N = 10M on 4 ranks, verification PASSED</a:t>
            </a:r>
            <a:endParaRPr lang="en-US" sz="1200" dirty="0"/>
          </a:p>
        </p:txBody>
      </p:sp>
      <p:sp>
        <p:nvSpPr>
          <p:cNvPr id="9" name="Run stat card 1"/>
          <p:cNvSpPr/>
          <p:nvPr/>
        </p:nvSpPr>
        <p:spPr>
          <a:xfrm>
            <a:off x="548640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0" name="Run stat 1"/>
          <p:cNvSpPr txBox="1"/>
          <p:nvPr/>
        </p:nvSpPr>
        <p:spPr>
          <a:xfrm>
            <a:off x="777240" y="5303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0.371 s</a:t>
            </a:r>
            <a:endParaRPr lang="en-US" sz="2400" dirty="0"/>
          </a:p>
        </p:txBody>
      </p:sp>
      <p:sp>
        <p:nvSpPr>
          <p:cNvPr id="11" name="Run stat label 1"/>
          <p:cNvSpPr txBox="1"/>
          <p:nvPr/>
        </p:nvSpPr>
        <p:spPr>
          <a:xfrm>
            <a:off x="2286000" y="5303520"/>
            <a:ext cx="1624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Sequential, N = 10M (26.96 M elem/s)</a:t>
            </a:r>
            <a:endParaRPr lang="en-US" sz="1400" dirty="0"/>
          </a:p>
        </p:txBody>
      </p:sp>
      <p:sp>
        <p:nvSpPr>
          <p:cNvPr id="12" name="Run stat card 2"/>
          <p:cNvSpPr/>
          <p:nvPr/>
        </p:nvSpPr>
        <p:spPr>
          <a:xfrm>
            <a:off x="4322064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3" name="Run stat 2"/>
          <p:cNvSpPr txBox="1"/>
          <p:nvPr/>
        </p:nvSpPr>
        <p:spPr>
          <a:xfrm>
            <a:off x="4550664" y="5303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0.224 s</a:t>
            </a:r>
            <a:endParaRPr lang="en-US" sz="2400" dirty="0"/>
          </a:p>
        </p:txBody>
      </p:sp>
      <p:sp>
        <p:nvSpPr>
          <p:cNvPr id="14" name="Run stat label 2"/>
          <p:cNvSpPr txBox="1"/>
          <p:nvPr/>
        </p:nvSpPr>
        <p:spPr>
          <a:xfrm>
            <a:off x="6059424" y="5303520"/>
            <a:ext cx="1624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In-situ, 4 ranks (44.63 M elem/s)</a:t>
            </a:r>
            <a:endParaRPr lang="en-US" sz="1400" dirty="0"/>
          </a:p>
        </p:txBody>
      </p:sp>
      <p:sp>
        <p:nvSpPr>
          <p:cNvPr id="15" name="Run stat card 3"/>
          <p:cNvSpPr/>
          <p:nvPr/>
        </p:nvSpPr>
        <p:spPr>
          <a:xfrm>
            <a:off x="8095488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6" name="Run stat 3"/>
          <p:cNvSpPr txBox="1"/>
          <p:nvPr/>
        </p:nvSpPr>
        <p:spPr>
          <a:xfrm>
            <a:off x="8324088" y="5303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1.66×</a:t>
            </a:r>
            <a:endParaRPr lang="en-US" sz="2400" dirty="0"/>
          </a:p>
        </p:txBody>
      </p:sp>
      <p:sp>
        <p:nvSpPr>
          <p:cNvPr id="17" name="Run stat label 3"/>
          <p:cNvSpPr txBox="1"/>
          <p:nvPr/>
        </p:nvSpPr>
        <p:spPr>
          <a:xfrm>
            <a:off x="9832848" y="5303520"/>
            <a:ext cx="1624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Speedup, 100% correct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4  |  PERFORMANCE 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1M and 10M Elements</a:t>
            </a:r>
            <a:endParaRPr lang="en-US" sz="3200" dirty="0"/>
          </a:p>
        </p:txBody>
      </p:sp>
      <p:graphicFrame>
        <p:nvGraphicFramePr>
          <p:cNvPr id="11" name="Results table 1M-10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3284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(s)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 (s)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Speedup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Efficiency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Throughput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0.0447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1.00×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22.39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0.0343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0.0001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1.30×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65.2%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29.19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0.0244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0.0042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1.83×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45.7%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40.93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0.4774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1.00×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20.95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0.2932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0.0001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1.63×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81.4%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34.11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10,000,000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0.2910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0.0730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1.64×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41.0%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34.36 M/s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Insight card 1"/>
          <p:cNvSpPr/>
          <p:nvPr/>
        </p:nvSpPr>
        <p:spPr>
          <a:xfrm>
            <a:off x="548640" y="5029200"/>
            <a:ext cx="5431536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7" name="Insight head 1"/>
          <p:cNvSpPr txBox="1"/>
          <p:nvPr/>
        </p:nvSpPr>
        <p:spPr>
          <a:xfrm>
            <a:off x="822960" y="51663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Overhead dominates small N</a:t>
            </a:r>
            <a:endParaRPr lang="en-US" sz="1600" dirty="0"/>
          </a:p>
        </p:txBody>
      </p:sp>
      <p:sp>
        <p:nvSpPr>
          <p:cNvPr id="8" name="Insight text 1"/>
          <p:cNvSpPr txBox="1"/>
          <p:nvPr/>
        </p:nvSpPr>
        <p:spPr>
          <a:xfrm>
            <a:off x="822960" y="5504688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 1M, 4 ranks reach only 1.83× at 45.7% efficiency: fixed startup and reduction costs are a large share of 24 ms.</a:t>
            </a:r>
            <a:endParaRPr lang="en-US" sz="1400" dirty="0"/>
          </a:p>
        </p:txBody>
      </p:sp>
      <p:sp>
        <p:nvSpPr>
          <p:cNvPr id="9" name="Insight card 2"/>
          <p:cNvSpPr/>
          <p:nvPr/>
        </p:nvSpPr>
        <p:spPr>
          <a:xfrm>
            <a:off x="6208776" y="5029200"/>
            <a:ext cx="5431536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0" name="Insight head 2"/>
          <p:cNvSpPr txBox="1"/>
          <p:nvPr/>
        </p:nvSpPr>
        <p:spPr>
          <a:xfrm>
            <a:off x="6483096" y="516636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10M plateaus past 2 ranks</a:t>
            </a:r>
            <a:endParaRPr lang="en-US" sz="1600" dirty="0"/>
          </a:p>
        </p:txBody>
      </p:sp>
      <p:sp>
        <p:nvSpPr>
          <p:cNvPr id="4" name="Insight text 2"/>
          <p:cNvSpPr txBox="1"/>
          <p:nvPr/>
        </p:nvSpPr>
        <p:spPr>
          <a:xfrm>
            <a:off x="6483096" y="5504688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Speedup stays at about 1.64× from P = 2 to P = 4; communication time grows from 0.0001 s to 0.073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4  |  PERFORMANCE 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50M Elements (1.52 GB)</a:t>
            </a:r>
            <a:endParaRPr lang="en-US" sz="3200" dirty="0"/>
          </a:p>
        </p:txBody>
      </p:sp>
      <p:graphicFrame>
        <p:nvGraphicFramePr>
          <p:cNvPr id="5" name="Elapsed time chart"/>
          <p:cNvGraphicFramePr/>
          <p:nvPr/>
        </p:nvGraphicFramePr>
        <p:xfrm>
          <a:off x="548640" y="150876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Results table 50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5696712" cy="307238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(s)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Speedup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Efficiency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Sequential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9.3976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1.00×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1.9645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4.78×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239.2%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2.0692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4.54×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113.5%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In-Situ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1.4262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6.59×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41.2%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Scatter-Gather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3.6918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2.55×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31.8%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able note"/>
          <p:cNvSpPr txBox="1"/>
          <p:nvPr/>
        </p:nvSpPr>
        <p:spPr>
          <a:xfrm>
            <a:off x="5943600" y="466344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Highlighted row: best observed run. Efficiency above 100% reflects superlinear cache and memory-pressure effects.</a:t>
            </a:r>
            <a:endParaRPr lang="en-US" sz="1200" dirty="0"/>
          </a:p>
        </p:txBody>
      </p:sp>
      <p:sp>
        <p:nvSpPr>
          <p:cNvPr id="8" name="Callout card 1"/>
          <p:cNvSpPr/>
          <p:nvPr/>
        </p:nvSpPr>
        <p:spPr>
          <a:xfrm>
            <a:off x="548640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9" name="Callout value 1"/>
          <p:cNvSpPr txBox="1"/>
          <p:nvPr/>
        </p:nvSpPr>
        <p:spPr>
          <a:xfrm>
            <a:off x="777240" y="5413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35.06 M/s</a:t>
            </a:r>
            <a:endParaRPr lang="en-US" sz="2200" dirty="0"/>
          </a:p>
        </p:txBody>
      </p:sp>
      <p:sp>
        <p:nvSpPr>
          <p:cNvPr id="10" name="Callout label 1"/>
          <p:cNvSpPr txBox="1"/>
          <p:nvPr/>
        </p:nvSpPr>
        <p:spPr>
          <a:xfrm>
            <a:off x="777240" y="58521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peak throughput, vs. 5.32 M/s sequential</a:t>
            </a:r>
            <a:endParaRPr lang="en-US" sz="1400" dirty="0"/>
          </a:p>
        </p:txBody>
      </p:sp>
      <p:sp>
        <p:nvSpPr>
          <p:cNvPr id="11" name="Callout card 2"/>
          <p:cNvSpPr/>
          <p:nvPr/>
        </p:nvSpPr>
        <p:spPr>
          <a:xfrm>
            <a:off x="4322064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4" name="Callout value 2"/>
          <p:cNvSpPr txBox="1"/>
          <p:nvPr/>
        </p:nvSpPr>
        <p:spPr>
          <a:xfrm>
            <a:off x="4550664" y="5413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9.40 s to 1.43 s</a:t>
            </a:r>
            <a:endParaRPr lang="en-US" sz="2200" dirty="0"/>
          </a:p>
        </p:txBody>
      </p:sp>
      <p:sp>
        <p:nvSpPr>
          <p:cNvPr id="13" name="Callout label 2"/>
          <p:cNvSpPr txBox="1"/>
          <p:nvPr/>
        </p:nvSpPr>
        <p:spPr>
          <a:xfrm>
            <a:off x="4550664" y="58521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single core to best in-situ run</a:t>
            </a:r>
            <a:endParaRPr lang="en-US" sz="1400" dirty="0"/>
          </a:p>
        </p:txBody>
      </p:sp>
      <p:sp>
        <p:nvSpPr>
          <p:cNvPr id="14" name="Callout card 3"/>
          <p:cNvSpPr/>
          <p:nvPr/>
        </p:nvSpPr>
        <p:spPr>
          <a:xfrm>
            <a:off x="8095488" y="5303520"/>
            <a:ext cx="3544824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5" name="Callout value 3"/>
          <p:cNvSpPr txBox="1"/>
          <p:nvPr/>
        </p:nvSpPr>
        <p:spPr>
          <a:xfrm>
            <a:off x="8324088" y="5413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72%</a:t>
            </a:r>
            <a:endParaRPr lang="en-US" sz="2200" dirty="0"/>
          </a:p>
        </p:txBody>
      </p:sp>
      <p:sp>
        <p:nvSpPr>
          <p:cNvPr id="16" name="Callout label 3"/>
          <p:cNvSpPr txBox="1"/>
          <p:nvPr/>
        </p:nvSpPr>
        <p:spPr>
          <a:xfrm>
            <a:off x="8324088" y="5852160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of scatter-gather time is communication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4  |  SCALING GRAPHS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Execution Time and Speedup Scaling</a:t>
            </a:r>
            <a:endParaRPr lang="en-US" sz="3200" dirty="0"/>
          </a:p>
        </p:txBody>
      </p:sp>
      <p:pic>
        <p:nvPicPr>
          <p:cNvPr id="5" name="Execution time graph" descr="Execution time vs proce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669280" cy="2197331"/>
          </a:xfrm>
          <a:prstGeom prst="rect">
            <a:avLst/>
          </a:prstGeom>
        </p:spPr>
      </p:pic>
      <p:pic>
        <p:nvPicPr>
          <p:cNvPr id="6" name="Speedup graph" descr="Speedup analys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8971"/>
            <a:ext cx="5669280" cy="2197331"/>
          </a:xfrm>
          <a:prstGeom prst="rect">
            <a:avLst/>
          </a:prstGeom>
        </p:spPr>
      </p:pic>
      <p:sp>
        <p:nvSpPr>
          <p:cNvPr id="7" name="Graph notes card"/>
          <p:cNvSpPr/>
          <p:nvPr/>
        </p:nvSpPr>
        <p:spPr>
          <a:xfrm>
            <a:off x="6492240" y="1508760"/>
            <a:ext cx="514807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8" name="Graph notes title"/>
          <p:cNvSpPr txBox="1"/>
          <p:nvPr/>
        </p:nvSpPr>
        <p:spPr>
          <a:xfrm>
            <a:off x="6766560" y="169164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the plots show</a:t>
            </a:r>
            <a:endParaRPr lang="en-US" sz="2000" dirty="0"/>
          </a:p>
        </p:txBody>
      </p:sp>
      <p:sp>
        <p:nvSpPr>
          <p:cNvPr id="9" name="Graph notes list"/>
          <p:cNvSpPr txBox="1"/>
          <p:nvPr/>
        </p:nvSpPr>
        <p:spPr>
          <a:xfrm>
            <a:off x="6766560" y="228600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Top: wall-clock time vs. P. At 50M, in-situ falls from 9.4 s to 1.4 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Bottom: speedup vs. the ideal S = P line.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50M exceeds the ideal line at P = 2 (4.78×), then flattens.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1M and 10M stay near 1× to 2×: overhead dominates.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Scatter-gather never exceeds 2.55× (P = 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4  |  EFFICIENCY AND COMMUNICATION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Parallel Efficiency and Communication Breakdown</a:t>
            </a:r>
            <a:endParaRPr lang="en-US" sz="3200" dirty="0"/>
          </a:p>
        </p:txBody>
      </p:sp>
      <p:pic>
        <p:nvPicPr>
          <p:cNvPr id="5" name="Efficiency graph" descr="Parallel efficien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440680" cy="3238880"/>
          </a:xfrm>
          <a:prstGeom prst="rect">
            <a:avLst/>
          </a:prstGeom>
        </p:spPr>
      </p:pic>
      <p:pic>
        <p:nvPicPr>
          <p:cNvPr id="6" name="Communication graph" descr="Computation vs communic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508760"/>
            <a:ext cx="5440680" cy="3236221"/>
          </a:xfrm>
          <a:prstGeom prst="rect">
            <a:avLst/>
          </a:prstGeom>
        </p:spPr>
      </p:pic>
      <p:sp>
        <p:nvSpPr>
          <p:cNvPr id="7" name="Efficiency caption"/>
          <p:cNvSpPr txBox="1"/>
          <p:nvPr/>
        </p:nvSpPr>
        <p:spPr>
          <a:xfrm>
            <a:off x="548640" y="48573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Parallel efficiency E(P) = S(P) / P. N = 50M peaks at 239% (superlinear), then decays with P.</a:t>
            </a:r>
            <a:endParaRPr lang="en-US" sz="1400" dirty="0"/>
          </a:p>
        </p:txBody>
      </p:sp>
      <p:sp>
        <p:nvSpPr>
          <p:cNvPr id="8" name="Comm caption"/>
          <p:cNvSpPr txBox="1"/>
          <p:nvPr/>
        </p:nvSpPr>
        <p:spPr>
          <a:xfrm>
            <a:off x="6199632" y="48573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Scatter-gather breakdown at N = 50M: scatter and gather time dominate the pure computation.</a:t>
            </a:r>
            <a:endParaRPr lang="en-US" sz="1400" dirty="0"/>
          </a:p>
        </p:txBody>
      </p:sp>
      <p:sp>
        <p:nvSpPr>
          <p:cNvPr id="9" name="Takeaway band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0" name="Takeaway text"/>
          <p:cNvSpPr txBox="1"/>
          <p:nvPr/>
        </p:nvSpPr>
        <p:spPr>
          <a:xfrm>
            <a:off x="822960" y="56692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Takeaway:  </a:t>
            </a:r>
            <a:r>
              <a:rPr lang="en-US" sz="1400" dirty="0">
                <a:solidFill>
                  <a:schemeClr val="tx1"/>
                </a:solidFill>
              </a:rPr>
              <a:t>moving whole vectors between processes erodes speedup; keeping data local scales.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4  |  SYSTEMS ANALYSIS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Scaling Behavior and Limits</a:t>
            </a:r>
            <a:endParaRPr lang="en-US" sz="3200" dirty="0"/>
          </a:p>
        </p:txBody>
      </p:sp>
      <p:sp>
        <p:nvSpPr>
          <p:cNvPr id="5" name="Analysis card 1"/>
          <p:cNvSpPr/>
          <p:nvPr/>
        </p:nvSpPr>
        <p:spPr>
          <a:xfrm>
            <a:off x="548640" y="150876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6" name="Analysis icon 1 circle"/>
          <p:cNvSpPr/>
          <p:nvPr/>
        </p:nvSpPr>
        <p:spPr>
          <a:xfrm>
            <a:off x="822960" y="176479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Analysis icon 1 icon" descr="FaMicroc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1912925"/>
            <a:ext cx="252374" cy="252374"/>
          </a:xfrm>
          <a:prstGeom prst="rect">
            <a:avLst/>
          </a:prstGeom>
        </p:spPr>
      </p:pic>
      <p:sp>
        <p:nvSpPr>
          <p:cNvPr id="8" name="Analysis head 1"/>
          <p:cNvSpPr txBox="1"/>
          <p:nvPr/>
        </p:nvSpPr>
        <p:spPr>
          <a:xfrm>
            <a:off x="1554480" y="176479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Scaling tracks hardware threads</a:t>
            </a:r>
            <a:endParaRPr lang="en-US" sz="1800" dirty="0"/>
          </a:p>
        </p:txBody>
      </p:sp>
      <p:sp>
        <p:nvSpPr>
          <p:cNvPr id="9" name="Analysis text 1"/>
          <p:cNvSpPr txBox="1"/>
          <p:nvPr/>
        </p:nvSpPr>
        <p:spPr>
          <a:xfrm>
            <a:off x="822960" y="2496312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cores and 4 SMT threads: P = 1, 2, 4 each get an independent thread. Beyond 4, the OS time-slices ranks and adds context-switch overhead.</a:t>
            </a:r>
            <a:endParaRPr lang="en-US" sz="1400" dirty="0"/>
          </a:p>
        </p:txBody>
      </p:sp>
      <p:sp>
        <p:nvSpPr>
          <p:cNvPr id="10" name="Analysis card 2"/>
          <p:cNvSpPr/>
          <p:nvPr/>
        </p:nvSpPr>
        <p:spPr>
          <a:xfrm>
            <a:off x="6208776" y="150876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1" name="Analysis icon 2 circle"/>
          <p:cNvSpPr/>
          <p:nvPr/>
        </p:nvSpPr>
        <p:spPr>
          <a:xfrm>
            <a:off x="6483096" y="176479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Analysis icon 2 icon" descr="FaMem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229" y="1912925"/>
            <a:ext cx="252374" cy="252374"/>
          </a:xfrm>
          <a:prstGeom prst="rect">
            <a:avLst/>
          </a:prstGeom>
        </p:spPr>
      </p:pic>
      <p:sp>
        <p:nvSpPr>
          <p:cNvPr id="13" name="Analysis head 2"/>
          <p:cNvSpPr txBox="1"/>
          <p:nvPr/>
        </p:nvSpPr>
        <p:spPr>
          <a:xfrm>
            <a:off x="7214616" y="176479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Superlinear effect at 50M</a:t>
            </a:r>
            <a:endParaRPr lang="en-US" sz="1800" dirty="0"/>
          </a:p>
        </p:txBody>
      </p:sp>
      <p:sp>
        <p:nvSpPr>
          <p:cNvPr id="14" name="Analysis text 2"/>
          <p:cNvSpPr txBox="1"/>
          <p:nvPr/>
        </p:nvSpPr>
        <p:spPr>
          <a:xfrm>
            <a:off x="6483096" y="2496312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Splitting the 1.52 GB vectors shrinks each rank's footprint, improving cache residency and easing memory pressure. This gives 4.78× at P = 2.</a:t>
            </a:r>
            <a:endParaRPr lang="en-US" sz="1400" dirty="0"/>
          </a:p>
        </p:txBody>
      </p:sp>
      <p:sp>
        <p:nvSpPr>
          <p:cNvPr id="15" name="Analysis card 3"/>
          <p:cNvSpPr/>
          <p:nvPr/>
        </p:nvSpPr>
        <p:spPr>
          <a:xfrm>
            <a:off x="548640" y="393192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6" name="Analysis icon 3 circle"/>
          <p:cNvSpPr/>
          <p:nvPr/>
        </p:nvSpPr>
        <p:spPr>
          <a:xfrm>
            <a:off x="822960" y="418795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Analysis icon 3 icon" descr="FaNetworkWi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336085"/>
            <a:ext cx="252374" cy="252374"/>
          </a:xfrm>
          <a:prstGeom prst="rect">
            <a:avLst/>
          </a:prstGeom>
        </p:spPr>
      </p:pic>
      <p:sp>
        <p:nvSpPr>
          <p:cNvPr id="18" name="Analysis head 3"/>
          <p:cNvSpPr txBox="1"/>
          <p:nvPr/>
        </p:nvSpPr>
        <p:spPr>
          <a:xfrm>
            <a:off x="1554480" y="418795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Scatter-gather pays for transport</a:t>
            </a:r>
            <a:endParaRPr lang="en-US" sz="1800" dirty="0"/>
          </a:p>
        </p:txBody>
      </p:sp>
      <p:sp>
        <p:nvSpPr>
          <p:cNvPr id="19" name="Analysis text 3"/>
          <p:cNvSpPr txBox="1"/>
          <p:nvPr/>
        </p:nvSpPr>
        <p:spPr>
          <a:xfrm>
            <a:off x="822960" y="4919472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Moving whole vectors costs 2.65 s of a 3.69 s run at P = 8. Communication, not computation, bounds the speedup.</a:t>
            </a:r>
            <a:endParaRPr lang="en-US" sz="1400" dirty="0"/>
          </a:p>
        </p:txBody>
      </p:sp>
      <p:sp>
        <p:nvSpPr>
          <p:cNvPr id="20" name="Analysis card 4"/>
          <p:cNvSpPr/>
          <p:nvPr/>
        </p:nvSpPr>
        <p:spPr>
          <a:xfrm>
            <a:off x="6208776" y="3931920"/>
            <a:ext cx="543153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1" name="Analysis icon 4 circle"/>
          <p:cNvSpPr/>
          <p:nvPr/>
        </p:nvSpPr>
        <p:spPr>
          <a:xfrm>
            <a:off x="6483096" y="418795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Analysis icon 4 icon" descr="FaBalanceSca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29" y="4336085"/>
            <a:ext cx="252374" cy="252374"/>
          </a:xfrm>
          <a:prstGeom prst="rect">
            <a:avLst/>
          </a:prstGeom>
        </p:spPr>
      </p:pic>
      <p:sp>
        <p:nvSpPr>
          <p:cNvPr id="23" name="Analysis head 4"/>
          <p:cNvSpPr txBox="1"/>
          <p:nvPr/>
        </p:nvSpPr>
        <p:spPr>
          <a:xfrm>
            <a:off x="7214616" y="4187952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In-situ scales with problem size</a:t>
            </a:r>
            <a:endParaRPr lang="en-US" sz="1800" dirty="0"/>
          </a:p>
        </p:txBody>
      </p:sp>
      <p:sp>
        <p:nvSpPr>
          <p:cNvPr id="24" name="Analysis text 4"/>
          <p:cNvSpPr txBox="1"/>
          <p:nvPr/>
        </p:nvSpPr>
        <p:spPr>
          <a:xfrm>
            <a:off x="6483096" y="4919472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scalars cross ranks via MPI_Reduce. By Gustafson's law, larger N raises the parallel fraction and keeps gains growing.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CHECKPOINT 5  |  TECHNICAL VIVA PREPARATION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Viva Questions and Answers</a:t>
            </a:r>
            <a:endParaRPr lang="en-US" sz="3200" dirty="0"/>
          </a:p>
        </p:txBody>
      </p:sp>
      <p:sp>
        <p:nvSpPr>
          <p:cNvPr id="5" name="QA card 1"/>
          <p:cNvSpPr/>
          <p:nvPr/>
        </p:nvSpPr>
        <p:spPr>
          <a:xfrm>
            <a:off x="548640" y="150876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6" name="Q badge 1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 num 1"/>
          <p:cNvSpPr txBox="1"/>
          <p:nvPr/>
        </p:nvSpPr>
        <p:spPr>
          <a:xfrm>
            <a:off x="7772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Q1</a:t>
            </a:r>
            <a:endParaRPr lang="en-US" sz="1400" dirty="0"/>
          </a:p>
        </p:txBody>
      </p:sp>
      <p:sp>
        <p:nvSpPr>
          <p:cNvPr id="8" name="Question 1"/>
          <p:cNvSpPr txBox="1"/>
          <p:nvPr/>
        </p:nvSpPr>
        <p:spPr>
          <a:xfrm>
            <a:off x="1371600" y="169164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MPI_Scatterv instead of MPI_Scatter?</a:t>
            </a:r>
            <a:endParaRPr lang="en-US" sz="1400" dirty="0"/>
          </a:p>
        </p:txBody>
      </p:sp>
      <p:sp>
        <p:nvSpPr>
          <p:cNvPr id="9" name="Answer 1"/>
          <p:cNvSpPr txBox="1"/>
          <p:nvPr/>
        </p:nvSpPr>
        <p:spPr>
          <a:xfrm>
            <a:off x="777240" y="242316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Scatter needs N divisible by P. Scatterv takes per-rank counts and displacements, so N mod P ≠ 0 works.</a:t>
            </a:r>
            <a:endParaRPr lang="en-US" sz="1400" dirty="0"/>
          </a:p>
        </p:txBody>
      </p:sp>
      <p:sp>
        <p:nvSpPr>
          <p:cNvPr id="10" name="QA card 2"/>
          <p:cNvSpPr/>
          <p:nvPr/>
        </p:nvSpPr>
        <p:spPr>
          <a:xfrm>
            <a:off x="4322064" y="150876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1" name="Q badge 2"/>
          <p:cNvSpPr/>
          <p:nvPr/>
        </p:nvSpPr>
        <p:spPr>
          <a:xfrm>
            <a:off x="4550664" y="17099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Q num 2"/>
          <p:cNvSpPr txBox="1"/>
          <p:nvPr/>
        </p:nvSpPr>
        <p:spPr>
          <a:xfrm>
            <a:off x="455066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Q2</a:t>
            </a:r>
            <a:endParaRPr lang="en-US" sz="1400" dirty="0"/>
          </a:p>
        </p:txBody>
      </p:sp>
      <p:sp>
        <p:nvSpPr>
          <p:cNvPr id="13" name="Question 2"/>
          <p:cNvSpPr txBox="1"/>
          <p:nvPr/>
        </p:nvSpPr>
        <p:spPr>
          <a:xfrm>
            <a:off x="5145024" y="169164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Reduce vs. point-to-point complexity?</a:t>
            </a:r>
            <a:endParaRPr lang="en-US" sz="1400" dirty="0"/>
          </a:p>
        </p:txBody>
      </p:sp>
      <p:sp>
        <p:nvSpPr>
          <p:cNvPr id="14" name="Answer 2"/>
          <p:cNvSpPr txBox="1"/>
          <p:nvPr/>
        </p:nvSpPr>
        <p:spPr>
          <a:xfrm>
            <a:off x="4550664" y="242316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Naive gathering is O(P). MPI_Reduce uses a binomial tree: O(log P) steps.</a:t>
            </a:r>
            <a:endParaRPr lang="en-US" sz="1400" dirty="0"/>
          </a:p>
        </p:txBody>
      </p:sp>
      <p:sp>
        <p:nvSpPr>
          <p:cNvPr id="15" name="QA card 3"/>
          <p:cNvSpPr/>
          <p:nvPr/>
        </p:nvSpPr>
        <p:spPr>
          <a:xfrm>
            <a:off x="8095488" y="150876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6" name="Q badge 3"/>
          <p:cNvSpPr/>
          <p:nvPr/>
        </p:nvSpPr>
        <p:spPr>
          <a:xfrm>
            <a:off x="8324088" y="17099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Q num 3"/>
          <p:cNvSpPr txBox="1"/>
          <p:nvPr/>
        </p:nvSpPr>
        <p:spPr>
          <a:xfrm>
            <a:off x="832408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Question 3"/>
          <p:cNvSpPr txBox="1"/>
          <p:nvPr/>
        </p:nvSpPr>
        <p:spPr>
          <a:xfrm>
            <a:off x="8918448" y="169164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Shared or distributed memory?</a:t>
            </a:r>
            <a:endParaRPr lang="en-US" sz="1400" dirty="0"/>
          </a:p>
        </p:txBody>
      </p:sp>
      <p:sp>
        <p:nvSpPr>
          <p:cNvPr id="19" name="Answer 3"/>
          <p:cNvSpPr txBox="1"/>
          <p:nvPr/>
        </p:nvSpPr>
        <p:spPr>
          <a:xfrm>
            <a:off x="8324088" y="242316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Distributed: each process has a private address space and data moves only by explicit messages.</a:t>
            </a:r>
            <a:endParaRPr lang="en-US" sz="1400" dirty="0"/>
          </a:p>
        </p:txBody>
      </p:sp>
      <p:sp>
        <p:nvSpPr>
          <p:cNvPr id="20" name="QA card 4"/>
          <p:cNvSpPr/>
          <p:nvPr/>
        </p:nvSpPr>
        <p:spPr>
          <a:xfrm>
            <a:off x="548640" y="397764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1" name="Q badge 4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Q num 4"/>
          <p:cNvSpPr txBox="1"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Q4</a:t>
            </a:r>
            <a:endParaRPr lang="en-US" sz="1400" dirty="0"/>
          </a:p>
        </p:txBody>
      </p:sp>
      <p:sp>
        <p:nvSpPr>
          <p:cNvPr id="23" name="Question 4"/>
          <p:cNvSpPr txBox="1"/>
          <p:nvPr/>
        </p:nvSpPr>
        <p:spPr>
          <a:xfrm>
            <a:off x="1371600" y="416052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no gain beyond 4 processes?</a:t>
            </a:r>
            <a:endParaRPr lang="en-US" sz="1400" dirty="0"/>
          </a:p>
        </p:txBody>
      </p:sp>
      <p:sp>
        <p:nvSpPr>
          <p:cNvPr id="24" name="Answer 4"/>
          <p:cNvSpPr txBox="1"/>
          <p:nvPr/>
        </p:nvSpPr>
        <p:spPr>
          <a:xfrm>
            <a:off x="777240" y="489204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host has 4 hardware threads. Extra ranks are oversubscribed and pay context-switch overhead.</a:t>
            </a:r>
            <a:endParaRPr lang="en-US" sz="1400" dirty="0"/>
          </a:p>
        </p:txBody>
      </p:sp>
      <p:sp>
        <p:nvSpPr>
          <p:cNvPr id="25" name="QA card 5"/>
          <p:cNvSpPr/>
          <p:nvPr/>
        </p:nvSpPr>
        <p:spPr>
          <a:xfrm>
            <a:off x="4322064" y="397764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6" name="Q badge 5"/>
          <p:cNvSpPr/>
          <p:nvPr/>
        </p:nvSpPr>
        <p:spPr>
          <a:xfrm>
            <a:off x="4550664" y="417880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Q num 5"/>
          <p:cNvSpPr txBox="1"/>
          <p:nvPr/>
        </p:nvSpPr>
        <p:spPr>
          <a:xfrm>
            <a:off x="4550664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Q5</a:t>
            </a:r>
            <a:endParaRPr lang="en-US" sz="1400" dirty="0"/>
          </a:p>
        </p:txBody>
      </p:sp>
      <p:sp>
        <p:nvSpPr>
          <p:cNvPr id="28" name="Question 5"/>
          <p:cNvSpPr txBox="1"/>
          <p:nvPr/>
        </p:nvSpPr>
        <p:spPr>
          <a:xfrm>
            <a:off x="5145024" y="416052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When does MPI hurt performance?</a:t>
            </a:r>
            <a:endParaRPr lang="en-US" sz="1400" dirty="0"/>
          </a:p>
        </p:txBody>
      </p:sp>
      <p:sp>
        <p:nvSpPr>
          <p:cNvPr id="29" name="Answer 5"/>
          <p:cNvSpPr txBox="1"/>
          <p:nvPr/>
        </p:nvSpPr>
        <p:spPr>
          <a:xfrm>
            <a:off x="4550664" y="489204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On small workloads, where communication latency exceeds the sequential compute time.</a:t>
            </a:r>
            <a:endParaRPr lang="en-US" sz="1400" dirty="0"/>
          </a:p>
        </p:txBody>
      </p:sp>
      <p:sp>
        <p:nvSpPr>
          <p:cNvPr id="30" name="QA card 6"/>
          <p:cNvSpPr/>
          <p:nvPr/>
        </p:nvSpPr>
        <p:spPr>
          <a:xfrm>
            <a:off x="8095488" y="3977640"/>
            <a:ext cx="3544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31" name="Q badge 6"/>
          <p:cNvSpPr/>
          <p:nvPr/>
        </p:nvSpPr>
        <p:spPr>
          <a:xfrm>
            <a:off x="8324088" y="417880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2" name="Q num 6"/>
          <p:cNvSpPr txBox="1"/>
          <p:nvPr/>
        </p:nvSpPr>
        <p:spPr>
          <a:xfrm>
            <a:off x="8324088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Q6</a:t>
            </a:r>
            <a:endParaRPr lang="en-US" sz="1400" dirty="0"/>
          </a:p>
        </p:txBody>
      </p:sp>
      <p:sp>
        <p:nvSpPr>
          <p:cNvPr id="33" name="Question 6"/>
          <p:cNvSpPr txBox="1"/>
          <p:nvPr/>
        </p:nvSpPr>
        <p:spPr>
          <a:xfrm>
            <a:off x="8918448" y="4160520"/>
            <a:ext cx="2493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is correctness verified?</a:t>
            </a:r>
            <a:endParaRPr lang="en-US" sz="1400" dirty="0"/>
          </a:p>
        </p:txBody>
      </p:sp>
      <p:sp>
        <p:nvSpPr>
          <p:cNvPr id="34" name="Answer 6"/>
          <p:cNvSpPr txBox="1"/>
          <p:nvPr/>
        </p:nvSpPr>
        <p:spPr>
          <a:xfrm>
            <a:off x="8324088" y="4892040"/>
            <a:ext cx="308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Deterministic inputs are checked against a double-precision reference with ε &lt; 10⁻⁶.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CONCLUSIONS AND SUBMISSION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Conclusions and Submission Summary</a:t>
            </a:r>
            <a:endParaRPr lang="en-US" sz="3200" dirty="0"/>
          </a:p>
        </p:txBody>
      </p:sp>
      <p:sp>
        <p:nvSpPr>
          <p:cNvPr id="5" name="Conclusion icon 1 circle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Conclusion icon 1 icon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7" name="Conclusion 1"/>
          <p:cNvSpPr txBox="1"/>
          <p:nvPr/>
        </p:nvSpPr>
        <p:spPr>
          <a:xfrm>
            <a:off x="1280160" y="15087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5 evaluation checkpoints completed with benchmarks measured on the host machine.</a:t>
            </a:r>
            <a:endParaRPr lang="en-US" sz="1400" dirty="0"/>
          </a:p>
        </p:txBody>
      </p:sp>
      <p:sp>
        <p:nvSpPr>
          <p:cNvPr id="8" name="Conclusion icon 2 circle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9" name="Conclusion icon 2 icon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2632100"/>
            <a:ext cx="231343" cy="231343"/>
          </a:xfrm>
          <a:prstGeom prst="rect">
            <a:avLst/>
          </a:prstGeom>
        </p:spPr>
      </p:pic>
      <p:sp>
        <p:nvSpPr>
          <p:cNvPr id="10" name="Conclusion 2"/>
          <p:cNvSpPr txBox="1"/>
          <p:nvPr/>
        </p:nvSpPr>
        <p:spPr>
          <a:xfrm>
            <a:off x="1280160" y="2423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100% numerical accuracy across sequential, scatter-gather and in-situ implementations.</a:t>
            </a:r>
            <a:endParaRPr lang="en-US" sz="1400" dirty="0"/>
          </a:p>
        </p:txBody>
      </p:sp>
      <p:sp>
        <p:nvSpPr>
          <p:cNvPr id="11" name="Conclusion icon 3 circle"/>
          <p:cNvSpPr/>
          <p:nvPr/>
        </p:nvSpPr>
        <p:spPr>
          <a:xfrm>
            <a:off x="548640" y="3410712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2" name="Conclusion icon 3 icon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46500"/>
            <a:ext cx="231343" cy="231343"/>
          </a:xfrm>
          <a:prstGeom prst="rect">
            <a:avLst/>
          </a:prstGeom>
        </p:spPr>
      </p:pic>
      <p:sp>
        <p:nvSpPr>
          <p:cNvPr id="13" name="Conclusion 3"/>
          <p:cNvSpPr txBox="1"/>
          <p:nvPr/>
        </p:nvSpPr>
        <p:spPr>
          <a:xfrm>
            <a:off x="1280160" y="33375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result: 6.59× speedup and 35.06 M elem/s at N = 50M, 9.40 s down to 1.43 s.</a:t>
            </a:r>
            <a:endParaRPr lang="en-US" sz="1400" dirty="0"/>
          </a:p>
        </p:txBody>
      </p:sp>
      <p:sp>
        <p:nvSpPr>
          <p:cNvPr id="14" name="Conclusion icon 4 circle"/>
          <p:cNvSpPr/>
          <p:nvPr/>
        </p:nvSpPr>
        <p:spPr>
          <a:xfrm>
            <a:off x="548640" y="4325112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Conclusion icon 4 icon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4460900"/>
            <a:ext cx="231343" cy="231343"/>
          </a:xfrm>
          <a:prstGeom prst="rect">
            <a:avLst/>
          </a:prstGeom>
        </p:spPr>
      </p:pic>
      <p:sp>
        <p:nvSpPr>
          <p:cNvPr id="16" name="Conclusion 4"/>
          <p:cNvSpPr txBox="1"/>
          <p:nvPr/>
        </p:nvSpPr>
        <p:spPr>
          <a:xfrm>
            <a:off x="1280160" y="4251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In-situ decomposition with remainder handling and O(log P) reductions is the scalable design.</a:t>
            </a:r>
            <a:endParaRPr lang="en-US" sz="1400" dirty="0"/>
          </a:p>
        </p:txBody>
      </p:sp>
      <p:sp>
        <p:nvSpPr>
          <p:cNvPr id="17" name="Submission card"/>
          <p:cNvSpPr/>
          <p:nvPr/>
        </p:nvSpPr>
        <p:spPr>
          <a:xfrm>
            <a:off x="6949440" y="1508760"/>
            <a:ext cx="4690872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18" name="Submission icon circle"/>
          <p:cNvSpPr/>
          <p:nvPr/>
        </p:nvSpPr>
        <p:spPr>
          <a:xfrm>
            <a:off x="7223760" y="1719072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Submission icon icon" descr="FaFolderOp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548" y="1854860"/>
            <a:ext cx="231343" cy="231343"/>
          </a:xfrm>
          <a:prstGeom prst="rect">
            <a:avLst/>
          </a:prstGeom>
        </p:spPr>
      </p:pic>
      <p:sp>
        <p:nvSpPr>
          <p:cNvPr id="20" name="Submission title"/>
          <p:cNvSpPr txBox="1"/>
          <p:nvPr/>
        </p:nvSpPr>
        <p:spPr>
          <a:xfrm>
            <a:off x="7909560" y="171907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Submission compliance</a:t>
            </a:r>
            <a:endParaRPr lang="en-US" sz="1800" dirty="0"/>
          </a:p>
        </p:txBody>
      </p:sp>
      <p:sp>
        <p:nvSpPr>
          <p:cNvPr id="21" name="Submission list"/>
          <p:cNvSpPr txBox="1"/>
          <p:nvPr/>
        </p:nvSpPr>
        <p:spPr>
          <a:xfrm>
            <a:off x="7223760" y="2423160"/>
            <a:ext cx="4142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repo: src, data, results, graphs, report, presentation, screenshots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README with specs, setup, math, benchmarks, viva guide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presentation with graphs and terminal captures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technical report in Markdown</a:t>
            </a:r>
            <a:endParaRPr lang="en-US" sz="1400" dirty="0"/>
          </a:p>
        </p:txBody>
      </p:sp>
      <p:sp>
        <p:nvSpPr>
          <p:cNvPr id="22" name="Team footer card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D5E3E1"/>
            </a:solidFill>
            <a:prstDash val="solid"/>
          </a:ln>
        </p:spPr>
      </p:sp>
      <p:sp>
        <p:nvSpPr>
          <p:cNvPr id="23" name="Team footer label"/>
          <p:cNvSpPr txBox="1"/>
          <p:nvPr/>
        </p:nvSpPr>
        <p:spPr>
          <a:xfrm>
            <a:off x="82296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TEAM 5</a:t>
            </a:r>
            <a:endParaRPr lang="en-US" sz="1200" dirty="0"/>
          </a:p>
        </p:txBody>
      </p:sp>
      <p:sp>
        <p:nvSpPr>
          <p:cNvPr id="24" name="Team footer names"/>
          <p:cNvSpPr txBox="1"/>
          <p:nvPr/>
        </p:nvSpPr>
        <p:spPr>
          <a:xfrm>
            <a:off x="822960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Akash Dani (01FE24BCI081)  |  Neil Mascarenhas (01FE24BCI070)  |  Dasari Joshua (01FE24BCI078)  |  Abhishek (01FE23BCI112)</a:t>
            </a:r>
            <a:endParaRPr lang="en-US" sz="1400" dirty="0"/>
          </a:p>
        </p:txBody>
      </p:sp>
      <p:sp>
        <p:nvSpPr>
          <p:cNvPr id="25" name="Repo link"/>
          <p:cNvSpPr txBox="1"/>
          <p:nvPr/>
        </p:nvSpPr>
        <p:spPr>
          <a:xfrm>
            <a:off x="822960" y="587044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github.com/akaraj187/distributed-vector-processing-parallel-computing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GC Lab Light">
  <a:themeElements>
    <a:clrScheme name="PGC Lab Light">
      <a:dk1>
        <a:srgbClr val="1F2937"/>
      </a:dk1>
      <a:lt1>
        <a:srgbClr val="FFFFFF"/>
      </a:lt1>
      <a:dk2>
        <a:srgbClr val="134E4A"/>
      </a:dk2>
      <a:lt2>
        <a:srgbClr val="F1F6F6"/>
      </a:lt2>
      <a:accent1>
        <a:srgbClr val="0F766E"/>
      </a:accent1>
      <a:accent2>
        <a:srgbClr val="B45309"/>
      </a:accent2>
      <a:accent3>
        <a:srgbClr val="475569"/>
      </a:accent3>
      <a:accent4>
        <a:srgbClr val="15803D"/>
      </a:accent4>
      <a:accent5>
        <a:srgbClr val="B91C1C"/>
      </a:accent5>
      <a:accent6>
        <a:srgbClr val="0E7490"/>
      </a:accent6>
      <a:hlink>
        <a:srgbClr val="0F766E"/>
      </a:hlink>
      <a:folHlink>
        <a:srgbClr val="475569"/>
      </a:folHlink>
    </a:clrScheme>
    <a:fontScheme name="PGC Lab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2866</Words>
  <Application>Microsoft Office PowerPoint</Application>
  <PresentationFormat>Widescreen</PresentationFormat>
  <Paragraphs>395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PGC Lab Light</vt:lpstr>
      <vt:lpstr>Distributed Vector Processing</vt:lpstr>
      <vt:lpstr>Project at a Glance</vt:lpstr>
      <vt:lpstr>Problem Statement and Objective</vt:lpstr>
      <vt:lpstr>Mathematical Formulation</vt:lpstr>
      <vt:lpstr>1D Block Domain Decomposition</vt:lpstr>
      <vt:lpstr>Two Distributed Workflow Models</vt:lpstr>
      <vt:lpstr>Open MPI Implementation and Verification</vt:lpstr>
      <vt:lpstr>Hardware and Benchmark Matrix</vt:lpstr>
      <vt:lpstr>Execution Screenshots: Terminal Verification</vt:lpstr>
      <vt:lpstr>Results: 1M and 10M Elements</vt:lpstr>
      <vt:lpstr>Results: 50M Elements (1.52 GB)</vt:lpstr>
      <vt:lpstr>Execution Time and Speedup Scaling</vt:lpstr>
      <vt:lpstr>Parallel Efficiency and Communication Breakdown</vt:lpstr>
      <vt:lpstr>Scaling Behavior and Limits</vt:lpstr>
      <vt:lpstr>Viva Questions and Answers</vt:lpstr>
      <vt:lpstr>Conclusions and Submission 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Vector Processing using Open MPI</dc:title>
  <dc:subject>PptxGenJS Presentation</dc:subject>
  <dc:creator>Team 5 - PGC Lab</dc:creator>
  <cp:lastModifiedBy>Joshua Dasari</cp:lastModifiedBy>
  <cp:revision>2</cp:revision>
  <dcterms:created xsi:type="dcterms:W3CDTF">2026-10-08T08:28:43Z</dcterms:created>
  <dcterms:modified xsi:type="dcterms:W3CDTF">2026-10-12T16:27:28Z</dcterms:modified>
</cp:coreProperties>
</file>